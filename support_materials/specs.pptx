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6" r:id="rId3"/>
    <p:sldId id="257" r:id="rId4"/>
    <p:sldId id="260" r:id="rId5"/>
    <p:sldId id="258" r:id="rId6"/>
    <p:sldId id="263" r:id="rId7"/>
    <p:sldId id="261"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p:scale>
          <a:sx n="112" d="100"/>
          <a:sy n="112" d="100"/>
        </p:scale>
        <p:origin x="552" y="12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44094-12A5-4288-BB82-3A81308730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DA6F0C2-EC92-4166-ACBE-31413606A9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4970067-CEB5-4B7A-9ADC-C2F247460E2A}"/>
              </a:ext>
            </a:extLst>
          </p:cNvPr>
          <p:cNvSpPr>
            <a:spLocks noGrp="1"/>
          </p:cNvSpPr>
          <p:nvPr>
            <p:ph type="dt" sz="half" idx="10"/>
          </p:nvPr>
        </p:nvSpPr>
        <p:spPr/>
        <p:txBody>
          <a:bodyPr/>
          <a:lstStyle/>
          <a:p>
            <a:fld id="{1C6FA5DD-D431-4C3D-84DC-E3EDDE24830F}" type="datetimeFigureOut">
              <a:rPr lang="en-GB" smtClean="0"/>
              <a:t>09/04/2026</a:t>
            </a:fld>
            <a:endParaRPr lang="en-GB"/>
          </a:p>
        </p:txBody>
      </p:sp>
      <p:sp>
        <p:nvSpPr>
          <p:cNvPr id="5" name="Footer Placeholder 4">
            <a:extLst>
              <a:ext uri="{FF2B5EF4-FFF2-40B4-BE49-F238E27FC236}">
                <a16:creationId xmlns:a16="http://schemas.microsoft.com/office/drawing/2014/main" id="{DC42D529-E9B1-4DDD-8AE2-B66FB37324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6DCE063-7B27-4128-B5FA-3B47CF4D9E6F}"/>
              </a:ext>
            </a:extLst>
          </p:cNvPr>
          <p:cNvSpPr>
            <a:spLocks noGrp="1"/>
          </p:cNvSpPr>
          <p:nvPr>
            <p:ph type="sldNum" sz="quarter" idx="12"/>
          </p:nvPr>
        </p:nvSpPr>
        <p:spPr/>
        <p:txBody>
          <a:bodyPr/>
          <a:lstStyle/>
          <a:p>
            <a:fld id="{B8FD7752-1333-4D62-89E9-F1D47B4A29F4}" type="slidenum">
              <a:rPr lang="en-GB" smtClean="0"/>
              <a:t>‹#›</a:t>
            </a:fld>
            <a:endParaRPr lang="en-GB"/>
          </a:p>
        </p:txBody>
      </p:sp>
    </p:spTree>
    <p:extLst>
      <p:ext uri="{BB962C8B-B14F-4D97-AF65-F5344CB8AC3E}">
        <p14:creationId xmlns:p14="http://schemas.microsoft.com/office/powerpoint/2010/main" val="3063986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5130-E07F-4506-A1F8-A1FECCD19D0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ED1C237-4341-4716-885D-9281D56146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0E13E66-4FDD-4E09-80BC-EC4EA7F53180}"/>
              </a:ext>
            </a:extLst>
          </p:cNvPr>
          <p:cNvSpPr>
            <a:spLocks noGrp="1"/>
          </p:cNvSpPr>
          <p:nvPr>
            <p:ph type="dt" sz="half" idx="10"/>
          </p:nvPr>
        </p:nvSpPr>
        <p:spPr/>
        <p:txBody>
          <a:bodyPr/>
          <a:lstStyle/>
          <a:p>
            <a:fld id="{1C6FA5DD-D431-4C3D-84DC-E3EDDE24830F}" type="datetimeFigureOut">
              <a:rPr lang="en-GB" smtClean="0"/>
              <a:t>09/04/2026</a:t>
            </a:fld>
            <a:endParaRPr lang="en-GB"/>
          </a:p>
        </p:txBody>
      </p:sp>
      <p:sp>
        <p:nvSpPr>
          <p:cNvPr id="5" name="Footer Placeholder 4">
            <a:extLst>
              <a:ext uri="{FF2B5EF4-FFF2-40B4-BE49-F238E27FC236}">
                <a16:creationId xmlns:a16="http://schemas.microsoft.com/office/drawing/2014/main" id="{096C7C2C-B2B7-4D2B-BC4F-0FA30362F32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5B125B2-98F4-4B3B-89CB-1D75635E9932}"/>
              </a:ext>
            </a:extLst>
          </p:cNvPr>
          <p:cNvSpPr>
            <a:spLocks noGrp="1"/>
          </p:cNvSpPr>
          <p:nvPr>
            <p:ph type="sldNum" sz="quarter" idx="12"/>
          </p:nvPr>
        </p:nvSpPr>
        <p:spPr/>
        <p:txBody>
          <a:bodyPr/>
          <a:lstStyle/>
          <a:p>
            <a:fld id="{B8FD7752-1333-4D62-89E9-F1D47B4A29F4}" type="slidenum">
              <a:rPr lang="en-GB" smtClean="0"/>
              <a:t>‹#›</a:t>
            </a:fld>
            <a:endParaRPr lang="en-GB"/>
          </a:p>
        </p:txBody>
      </p:sp>
    </p:spTree>
    <p:extLst>
      <p:ext uri="{BB962C8B-B14F-4D97-AF65-F5344CB8AC3E}">
        <p14:creationId xmlns:p14="http://schemas.microsoft.com/office/powerpoint/2010/main" val="3701794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72BD6-EFCD-418F-B42E-DEEFF14D9F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0719E59-F848-48A1-8EF6-190AFCB2C1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C3EAA5-38FB-4ACF-A2E2-CF9F50929E9C}"/>
              </a:ext>
            </a:extLst>
          </p:cNvPr>
          <p:cNvSpPr>
            <a:spLocks noGrp="1"/>
          </p:cNvSpPr>
          <p:nvPr>
            <p:ph type="dt" sz="half" idx="10"/>
          </p:nvPr>
        </p:nvSpPr>
        <p:spPr/>
        <p:txBody>
          <a:bodyPr/>
          <a:lstStyle/>
          <a:p>
            <a:fld id="{1C6FA5DD-D431-4C3D-84DC-E3EDDE24830F}" type="datetimeFigureOut">
              <a:rPr lang="en-GB" smtClean="0"/>
              <a:t>09/04/2026</a:t>
            </a:fld>
            <a:endParaRPr lang="en-GB"/>
          </a:p>
        </p:txBody>
      </p:sp>
      <p:sp>
        <p:nvSpPr>
          <p:cNvPr id="5" name="Footer Placeholder 4">
            <a:extLst>
              <a:ext uri="{FF2B5EF4-FFF2-40B4-BE49-F238E27FC236}">
                <a16:creationId xmlns:a16="http://schemas.microsoft.com/office/drawing/2014/main" id="{4698DD61-875F-4559-A77D-29BD29B4DE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F257B41-184E-4DCE-97D1-35DB4739F490}"/>
              </a:ext>
            </a:extLst>
          </p:cNvPr>
          <p:cNvSpPr>
            <a:spLocks noGrp="1"/>
          </p:cNvSpPr>
          <p:nvPr>
            <p:ph type="sldNum" sz="quarter" idx="12"/>
          </p:nvPr>
        </p:nvSpPr>
        <p:spPr/>
        <p:txBody>
          <a:bodyPr/>
          <a:lstStyle/>
          <a:p>
            <a:fld id="{B8FD7752-1333-4D62-89E9-F1D47B4A29F4}" type="slidenum">
              <a:rPr lang="en-GB" smtClean="0"/>
              <a:t>‹#›</a:t>
            </a:fld>
            <a:endParaRPr lang="en-GB"/>
          </a:p>
        </p:txBody>
      </p:sp>
    </p:spTree>
    <p:extLst>
      <p:ext uri="{BB962C8B-B14F-4D97-AF65-F5344CB8AC3E}">
        <p14:creationId xmlns:p14="http://schemas.microsoft.com/office/powerpoint/2010/main" val="3902284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3DC37-C150-4058-B36A-D9067AB75B2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1390D8-06D3-49FD-BCE7-07C5850F8A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E7ECC77-55C2-45A5-96DB-231EE6217D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EF2F9EC-7542-423E-9215-9ECFCAFF5C55}"/>
              </a:ext>
            </a:extLst>
          </p:cNvPr>
          <p:cNvSpPr>
            <a:spLocks noGrp="1"/>
          </p:cNvSpPr>
          <p:nvPr>
            <p:ph type="dt" sz="half" idx="10"/>
          </p:nvPr>
        </p:nvSpPr>
        <p:spPr/>
        <p:txBody>
          <a:bodyPr/>
          <a:lstStyle/>
          <a:p>
            <a:fld id="{1C6FA5DD-D431-4C3D-84DC-E3EDDE24830F}" type="datetimeFigureOut">
              <a:rPr lang="en-GB" smtClean="0"/>
              <a:t>09/04/2026</a:t>
            </a:fld>
            <a:endParaRPr lang="en-GB"/>
          </a:p>
        </p:txBody>
      </p:sp>
      <p:sp>
        <p:nvSpPr>
          <p:cNvPr id="6" name="Footer Placeholder 5">
            <a:extLst>
              <a:ext uri="{FF2B5EF4-FFF2-40B4-BE49-F238E27FC236}">
                <a16:creationId xmlns:a16="http://schemas.microsoft.com/office/drawing/2014/main" id="{DEEF7522-19FA-400B-845B-F6C7801033F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B5C5CAB-9ED3-44E2-A17C-89EB769519CC}"/>
              </a:ext>
            </a:extLst>
          </p:cNvPr>
          <p:cNvSpPr>
            <a:spLocks noGrp="1"/>
          </p:cNvSpPr>
          <p:nvPr>
            <p:ph type="sldNum" sz="quarter" idx="12"/>
          </p:nvPr>
        </p:nvSpPr>
        <p:spPr/>
        <p:txBody>
          <a:bodyPr/>
          <a:lstStyle/>
          <a:p>
            <a:fld id="{B8FD7752-1333-4D62-89E9-F1D47B4A29F4}" type="slidenum">
              <a:rPr lang="en-GB" smtClean="0"/>
              <a:t>‹#›</a:t>
            </a:fld>
            <a:endParaRPr lang="en-GB"/>
          </a:p>
        </p:txBody>
      </p:sp>
    </p:spTree>
    <p:extLst>
      <p:ext uri="{BB962C8B-B14F-4D97-AF65-F5344CB8AC3E}">
        <p14:creationId xmlns:p14="http://schemas.microsoft.com/office/powerpoint/2010/main" val="3873042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A0AA5-9570-4389-BEFE-DFDA97FAC5F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62A1B8-6699-4740-90E3-AFBE065109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C225BA-833B-448D-9CFA-22D86D6714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3538A59-BE52-40AB-907C-AA041E5702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283986-35F8-4A2A-A4C7-9DEC98F026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17C3180-973D-48FC-B23F-60297A7724F9}"/>
              </a:ext>
            </a:extLst>
          </p:cNvPr>
          <p:cNvSpPr>
            <a:spLocks noGrp="1"/>
          </p:cNvSpPr>
          <p:nvPr>
            <p:ph type="dt" sz="half" idx="10"/>
          </p:nvPr>
        </p:nvSpPr>
        <p:spPr/>
        <p:txBody>
          <a:bodyPr/>
          <a:lstStyle/>
          <a:p>
            <a:fld id="{1C6FA5DD-D431-4C3D-84DC-E3EDDE24830F}" type="datetimeFigureOut">
              <a:rPr lang="en-GB" smtClean="0"/>
              <a:t>09/04/2026</a:t>
            </a:fld>
            <a:endParaRPr lang="en-GB"/>
          </a:p>
        </p:txBody>
      </p:sp>
      <p:sp>
        <p:nvSpPr>
          <p:cNvPr id="8" name="Footer Placeholder 7">
            <a:extLst>
              <a:ext uri="{FF2B5EF4-FFF2-40B4-BE49-F238E27FC236}">
                <a16:creationId xmlns:a16="http://schemas.microsoft.com/office/drawing/2014/main" id="{88CCB7C7-9736-4D0A-864F-7DFB3C75410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EF22F42-2DC7-49AC-BB82-EEA143C3B932}"/>
              </a:ext>
            </a:extLst>
          </p:cNvPr>
          <p:cNvSpPr>
            <a:spLocks noGrp="1"/>
          </p:cNvSpPr>
          <p:nvPr>
            <p:ph type="sldNum" sz="quarter" idx="12"/>
          </p:nvPr>
        </p:nvSpPr>
        <p:spPr/>
        <p:txBody>
          <a:bodyPr/>
          <a:lstStyle/>
          <a:p>
            <a:fld id="{B8FD7752-1333-4D62-89E9-F1D47B4A29F4}" type="slidenum">
              <a:rPr lang="en-GB" smtClean="0"/>
              <a:t>‹#›</a:t>
            </a:fld>
            <a:endParaRPr lang="en-GB"/>
          </a:p>
        </p:txBody>
      </p:sp>
    </p:spTree>
    <p:extLst>
      <p:ext uri="{BB962C8B-B14F-4D97-AF65-F5344CB8AC3E}">
        <p14:creationId xmlns:p14="http://schemas.microsoft.com/office/powerpoint/2010/main" val="1624557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C8C0C-8578-4B6C-91D7-C0FE0E2EE05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10FAF4A-CAE0-4981-BC0C-413D6BE42084}"/>
              </a:ext>
            </a:extLst>
          </p:cNvPr>
          <p:cNvSpPr>
            <a:spLocks noGrp="1"/>
          </p:cNvSpPr>
          <p:nvPr>
            <p:ph type="dt" sz="half" idx="10"/>
          </p:nvPr>
        </p:nvSpPr>
        <p:spPr/>
        <p:txBody>
          <a:bodyPr/>
          <a:lstStyle/>
          <a:p>
            <a:fld id="{1C6FA5DD-D431-4C3D-84DC-E3EDDE24830F}" type="datetimeFigureOut">
              <a:rPr lang="en-GB" smtClean="0"/>
              <a:t>09/04/2026</a:t>
            </a:fld>
            <a:endParaRPr lang="en-GB"/>
          </a:p>
        </p:txBody>
      </p:sp>
      <p:sp>
        <p:nvSpPr>
          <p:cNvPr id="4" name="Footer Placeholder 3">
            <a:extLst>
              <a:ext uri="{FF2B5EF4-FFF2-40B4-BE49-F238E27FC236}">
                <a16:creationId xmlns:a16="http://schemas.microsoft.com/office/drawing/2014/main" id="{BFB8E823-F332-4E70-B54F-FA0DAD7107E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4263C25-58B3-41EF-AFAB-EDA6B4D4670B}"/>
              </a:ext>
            </a:extLst>
          </p:cNvPr>
          <p:cNvSpPr>
            <a:spLocks noGrp="1"/>
          </p:cNvSpPr>
          <p:nvPr>
            <p:ph type="sldNum" sz="quarter" idx="12"/>
          </p:nvPr>
        </p:nvSpPr>
        <p:spPr/>
        <p:txBody>
          <a:bodyPr/>
          <a:lstStyle/>
          <a:p>
            <a:fld id="{B8FD7752-1333-4D62-89E9-F1D47B4A29F4}" type="slidenum">
              <a:rPr lang="en-GB" smtClean="0"/>
              <a:t>‹#›</a:t>
            </a:fld>
            <a:endParaRPr lang="en-GB"/>
          </a:p>
        </p:txBody>
      </p:sp>
    </p:spTree>
    <p:extLst>
      <p:ext uri="{BB962C8B-B14F-4D97-AF65-F5344CB8AC3E}">
        <p14:creationId xmlns:p14="http://schemas.microsoft.com/office/powerpoint/2010/main" val="1771256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D0B332-CEE0-4F47-8E28-916E22E77351}"/>
              </a:ext>
            </a:extLst>
          </p:cNvPr>
          <p:cNvSpPr>
            <a:spLocks noGrp="1"/>
          </p:cNvSpPr>
          <p:nvPr>
            <p:ph type="dt" sz="half" idx="10"/>
          </p:nvPr>
        </p:nvSpPr>
        <p:spPr/>
        <p:txBody>
          <a:bodyPr/>
          <a:lstStyle/>
          <a:p>
            <a:fld id="{1C6FA5DD-D431-4C3D-84DC-E3EDDE24830F}" type="datetimeFigureOut">
              <a:rPr lang="en-GB" smtClean="0"/>
              <a:t>09/04/2026</a:t>
            </a:fld>
            <a:endParaRPr lang="en-GB"/>
          </a:p>
        </p:txBody>
      </p:sp>
      <p:sp>
        <p:nvSpPr>
          <p:cNvPr id="3" name="Footer Placeholder 2">
            <a:extLst>
              <a:ext uri="{FF2B5EF4-FFF2-40B4-BE49-F238E27FC236}">
                <a16:creationId xmlns:a16="http://schemas.microsoft.com/office/drawing/2014/main" id="{D14D775F-23EF-454C-9E2C-CEF2F6EAC1A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82EEBF9-0A16-44E2-B464-BCDA7234F16D}"/>
              </a:ext>
            </a:extLst>
          </p:cNvPr>
          <p:cNvSpPr>
            <a:spLocks noGrp="1"/>
          </p:cNvSpPr>
          <p:nvPr>
            <p:ph type="sldNum" sz="quarter" idx="12"/>
          </p:nvPr>
        </p:nvSpPr>
        <p:spPr/>
        <p:txBody>
          <a:bodyPr/>
          <a:lstStyle/>
          <a:p>
            <a:fld id="{B8FD7752-1333-4D62-89E9-F1D47B4A29F4}" type="slidenum">
              <a:rPr lang="en-GB" smtClean="0"/>
              <a:t>‹#›</a:t>
            </a:fld>
            <a:endParaRPr lang="en-GB"/>
          </a:p>
        </p:txBody>
      </p:sp>
    </p:spTree>
    <p:extLst>
      <p:ext uri="{BB962C8B-B14F-4D97-AF65-F5344CB8AC3E}">
        <p14:creationId xmlns:p14="http://schemas.microsoft.com/office/powerpoint/2010/main" val="2085478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87438-00BE-4BB2-BB73-15E7A13AEC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FB1430D-6D79-4D3F-939C-98184866EF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D5CBC94-B526-4A76-8CA2-001AAF0D9E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917619-73EE-46BA-8835-031D843BA632}"/>
              </a:ext>
            </a:extLst>
          </p:cNvPr>
          <p:cNvSpPr>
            <a:spLocks noGrp="1"/>
          </p:cNvSpPr>
          <p:nvPr>
            <p:ph type="dt" sz="half" idx="10"/>
          </p:nvPr>
        </p:nvSpPr>
        <p:spPr/>
        <p:txBody>
          <a:bodyPr/>
          <a:lstStyle/>
          <a:p>
            <a:fld id="{1C6FA5DD-D431-4C3D-84DC-E3EDDE24830F}" type="datetimeFigureOut">
              <a:rPr lang="en-GB" smtClean="0"/>
              <a:t>09/04/2026</a:t>
            </a:fld>
            <a:endParaRPr lang="en-GB"/>
          </a:p>
        </p:txBody>
      </p:sp>
      <p:sp>
        <p:nvSpPr>
          <p:cNvPr id="6" name="Footer Placeholder 5">
            <a:extLst>
              <a:ext uri="{FF2B5EF4-FFF2-40B4-BE49-F238E27FC236}">
                <a16:creationId xmlns:a16="http://schemas.microsoft.com/office/drawing/2014/main" id="{BC3E2CDC-D5A1-4B06-A629-6D41A782953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FC166BC-AF5A-4C09-8705-274C2C0E559A}"/>
              </a:ext>
            </a:extLst>
          </p:cNvPr>
          <p:cNvSpPr>
            <a:spLocks noGrp="1"/>
          </p:cNvSpPr>
          <p:nvPr>
            <p:ph type="sldNum" sz="quarter" idx="12"/>
          </p:nvPr>
        </p:nvSpPr>
        <p:spPr/>
        <p:txBody>
          <a:bodyPr/>
          <a:lstStyle/>
          <a:p>
            <a:fld id="{B8FD7752-1333-4D62-89E9-F1D47B4A29F4}" type="slidenum">
              <a:rPr lang="en-GB" smtClean="0"/>
              <a:t>‹#›</a:t>
            </a:fld>
            <a:endParaRPr lang="en-GB"/>
          </a:p>
        </p:txBody>
      </p:sp>
    </p:spTree>
    <p:extLst>
      <p:ext uri="{BB962C8B-B14F-4D97-AF65-F5344CB8AC3E}">
        <p14:creationId xmlns:p14="http://schemas.microsoft.com/office/powerpoint/2010/main" val="591854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31461-4DD2-4323-9381-1C4DB2D1FC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D6FED77-06CF-4630-857F-3DBC6E292B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CF8CAF5-A0B4-4A74-B45C-07F8A1FAC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CD2D9D-8398-4F57-B5DB-308CA923440C}"/>
              </a:ext>
            </a:extLst>
          </p:cNvPr>
          <p:cNvSpPr>
            <a:spLocks noGrp="1"/>
          </p:cNvSpPr>
          <p:nvPr>
            <p:ph type="dt" sz="half" idx="10"/>
          </p:nvPr>
        </p:nvSpPr>
        <p:spPr/>
        <p:txBody>
          <a:bodyPr/>
          <a:lstStyle/>
          <a:p>
            <a:fld id="{1C6FA5DD-D431-4C3D-84DC-E3EDDE24830F}" type="datetimeFigureOut">
              <a:rPr lang="en-GB" smtClean="0"/>
              <a:t>09/04/2026</a:t>
            </a:fld>
            <a:endParaRPr lang="en-GB"/>
          </a:p>
        </p:txBody>
      </p:sp>
      <p:sp>
        <p:nvSpPr>
          <p:cNvPr id="6" name="Footer Placeholder 5">
            <a:extLst>
              <a:ext uri="{FF2B5EF4-FFF2-40B4-BE49-F238E27FC236}">
                <a16:creationId xmlns:a16="http://schemas.microsoft.com/office/drawing/2014/main" id="{FE49EFE5-56CB-41AA-83D0-150A3F6028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E6366FC-5BF1-46AC-90CF-C474EEEE3159}"/>
              </a:ext>
            </a:extLst>
          </p:cNvPr>
          <p:cNvSpPr>
            <a:spLocks noGrp="1"/>
          </p:cNvSpPr>
          <p:nvPr>
            <p:ph type="sldNum" sz="quarter" idx="12"/>
          </p:nvPr>
        </p:nvSpPr>
        <p:spPr/>
        <p:txBody>
          <a:bodyPr/>
          <a:lstStyle/>
          <a:p>
            <a:fld id="{B8FD7752-1333-4D62-89E9-F1D47B4A29F4}" type="slidenum">
              <a:rPr lang="en-GB" smtClean="0"/>
              <a:t>‹#›</a:t>
            </a:fld>
            <a:endParaRPr lang="en-GB"/>
          </a:p>
        </p:txBody>
      </p:sp>
    </p:spTree>
    <p:extLst>
      <p:ext uri="{BB962C8B-B14F-4D97-AF65-F5344CB8AC3E}">
        <p14:creationId xmlns:p14="http://schemas.microsoft.com/office/powerpoint/2010/main" val="778154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092DB-FD3D-41F1-9942-2D2EB11DEF3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98E545E-71AC-4117-A412-F1F3F129A1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2C1592E-41BD-4CBC-B45B-FA531AC6643D}"/>
              </a:ext>
            </a:extLst>
          </p:cNvPr>
          <p:cNvSpPr>
            <a:spLocks noGrp="1"/>
          </p:cNvSpPr>
          <p:nvPr>
            <p:ph type="dt" sz="half" idx="10"/>
          </p:nvPr>
        </p:nvSpPr>
        <p:spPr/>
        <p:txBody>
          <a:bodyPr/>
          <a:lstStyle/>
          <a:p>
            <a:fld id="{1C6FA5DD-D431-4C3D-84DC-E3EDDE24830F}" type="datetimeFigureOut">
              <a:rPr lang="en-GB" smtClean="0"/>
              <a:t>09/04/2026</a:t>
            </a:fld>
            <a:endParaRPr lang="en-GB"/>
          </a:p>
        </p:txBody>
      </p:sp>
      <p:sp>
        <p:nvSpPr>
          <p:cNvPr id="5" name="Footer Placeholder 4">
            <a:extLst>
              <a:ext uri="{FF2B5EF4-FFF2-40B4-BE49-F238E27FC236}">
                <a16:creationId xmlns:a16="http://schemas.microsoft.com/office/drawing/2014/main" id="{2F0EC4F1-631E-498E-B286-4AB91AC80B7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DC3464-EDE2-4448-B265-0FD095FF992E}"/>
              </a:ext>
            </a:extLst>
          </p:cNvPr>
          <p:cNvSpPr>
            <a:spLocks noGrp="1"/>
          </p:cNvSpPr>
          <p:nvPr>
            <p:ph type="sldNum" sz="quarter" idx="12"/>
          </p:nvPr>
        </p:nvSpPr>
        <p:spPr/>
        <p:txBody>
          <a:bodyPr/>
          <a:lstStyle/>
          <a:p>
            <a:fld id="{B8FD7752-1333-4D62-89E9-F1D47B4A29F4}" type="slidenum">
              <a:rPr lang="en-GB" smtClean="0"/>
              <a:t>‹#›</a:t>
            </a:fld>
            <a:endParaRPr lang="en-GB"/>
          </a:p>
        </p:txBody>
      </p:sp>
    </p:spTree>
    <p:extLst>
      <p:ext uri="{BB962C8B-B14F-4D97-AF65-F5344CB8AC3E}">
        <p14:creationId xmlns:p14="http://schemas.microsoft.com/office/powerpoint/2010/main" val="1619303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4591F4-3CF0-45A9-AFEB-40A715E6B02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1A5368C-AF32-4849-9D65-41982657EE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6EC403-62C4-4EFD-B858-CEF459C9C8CF}"/>
              </a:ext>
            </a:extLst>
          </p:cNvPr>
          <p:cNvSpPr>
            <a:spLocks noGrp="1"/>
          </p:cNvSpPr>
          <p:nvPr>
            <p:ph type="dt" sz="half" idx="10"/>
          </p:nvPr>
        </p:nvSpPr>
        <p:spPr/>
        <p:txBody>
          <a:bodyPr/>
          <a:lstStyle/>
          <a:p>
            <a:fld id="{1C6FA5DD-D431-4C3D-84DC-E3EDDE24830F}" type="datetimeFigureOut">
              <a:rPr lang="en-GB" smtClean="0"/>
              <a:t>09/04/2026</a:t>
            </a:fld>
            <a:endParaRPr lang="en-GB"/>
          </a:p>
        </p:txBody>
      </p:sp>
      <p:sp>
        <p:nvSpPr>
          <p:cNvPr id="5" name="Footer Placeholder 4">
            <a:extLst>
              <a:ext uri="{FF2B5EF4-FFF2-40B4-BE49-F238E27FC236}">
                <a16:creationId xmlns:a16="http://schemas.microsoft.com/office/drawing/2014/main" id="{B89509B4-DF90-4827-92B1-575C101791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65EC194-6729-4532-8E5E-200C30858DB2}"/>
              </a:ext>
            </a:extLst>
          </p:cNvPr>
          <p:cNvSpPr>
            <a:spLocks noGrp="1"/>
          </p:cNvSpPr>
          <p:nvPr>
            <p:ph type="sldNum" sz="quarter" idx="12"/>
          </p:nvPr>
        </p:nvSpPr>
        <p:spPr/>
        <p:txBody>
          <a:bodyPr/>
          <a:lstStyle/>
          <a:p>
            <a:fld id="{B8FD7752-1333-4D62-89E9-F1D47B4A29F4}" type="slidenum">
              <a:rPr lang="en-GB" smtClean="0"/>
              <a:t>‹#›</a:t>
            </a:fld>
            <a:endParaRPr lang="en-GB"/>
          </a:p>
        </p:txBody>
      </p:sp>
    </p:spTree>
    <p:extLst>
      <p:ext uri="{BB962C8B-B14F-4D97-AF65-F5344CB8AC3E}">
        <p14:creationId xmlns:p14="http://schemas.microsoft.com/office/powerpoint/2010/main" val="3373661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29B25C-6F31-4FF6-9389-F01BEAA430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F380E6F-D61E-4A6C-AF35-BBBC916DA0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36B2DC-F2AB-425E-B2F8-04F594FC11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6FA5DD-D431-4C3D-84DC-E3EDDE24830F}" type="datetimeFigureOut">
              <a:rPr lang="en-GB" smtClean="0"/>
              <a:t>09/04/2026</a:t>
            </a:fld>
            <a:endParaRPr lang="en-GB"/>
          </a:p>
        </p:txBody>
      </p:sp>
      <p:sp>
        <p:nvSpPr>
          <p:cNvPr id="5" name="Footer Placeholder 4">
            <a:extLst>
              <a:ext uri="{FF2B5EF4-FFF2-40B4-BE49-F238E27FC236}">
                <a16:creationId xmlns:a16="http://schemas.microsoft.com/office/drawing/2014/main" id="{9149CD0B-6C2E-4971-8292-69994CA5EA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05A5398-B3E2-45A5-B64E-1E56DC06DE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FD7752-1333-4D62-89E9-F1D47B4A29F4}" type="slidenum">
              <a:rPr lang="en-GB" smtClean="0"/>
              <a:t>‹#›</a:t>
            </a:fld>
            <a:endParaRPr lang="en-GB"/>
          </a:p>
        </p:txBody>
      </p:sp>
    </p:spTree>
    <p:extLst>
      <p:ext uri="{BB962C8B-B14F-4D97-AF65-F5344CB8AC3E}">
        <p14:creationId xmlns:p14="http://schemas.microsoft.com/office/powerpoint/2010/main" val="920382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CB5410-183B-4387-AF0B-57227BE216E3}"/>
              </a:ext>
            </a:extLst>
          </p:cNvPr>
          <p:cNvPicPr>
            <a:picLocks noChangeAspect="1"/>
          </p:cNvPicPr>
          <p:nvPr/>
        </p:nvPicPr>
        <p:blipFill>
          <a:blip r:embed="rId2">
            <a:alphaModFix amt="20000"/>
          </a:blip>
          <a:stretch>
            <a:fillRect/>
          </a:stretch>
        </p:blipFill>
        <p:spPr>
          <a:xfrm>
            <a:off x="4071937" y="500062"/>
            <a:ext cx="4048125" cy="5857875"/>
          </a:xfrm>
          <a:prstGeom prst="rect">
            <a:avLst/>
          </a:prstGeom>
        </p:spPr>
      </p:pic>
      <p:cxnSp>
        <p:nvCxnSpPr>
          <p:cNvPr id="6" name="Straight Connector 5">
            <a:extLst>
              <a:ext uri="{FF2B5EF4-FFF2-40B4-BE49-F238E27FC236}">
                <a16:creationId xmlns:a16="http://schemas.microsoft.com/office/drawing/2014/main" id="{AF37B219-D471-495B-87CB-CA3D8255BBB3}"/>
              </a:ext>
            </a:extLst>
          </p:cNvPr>
          <p:cNvCxnSpPr>
            <a:cxnSpLocks/>
          </p:cNvCxnSpPr>
          <p:nvPr/>
        </p:nvCxnSpPr>
        <p:spPr>
          <a:xfrm flipH="1">
            <a:off x="5129349" y="731519"/>
            <a:ext cx="1166949" cy="53644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0C4F2B4-7D33-4452-8109-66DC857202AD}"/>
              </a:ext>
            </a:extLst>
          </p:cNvPr>
          <p:cNvCxnSpPr>
            <a:cxnSpLocks/>
          </p:cNvCxnSpPr>
          <p:nvPr/>
        </p:nvCxnSpPr>
        <p:spPr>
          <a:xfrm flipH="1">
            <a:off x="3583580" y="3788229"/>
            <a:ext cx="4837609" cy="23077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F4C1B3-11B7-4EF0-920A-8C4C0C829EC7}"/>
              </a:ext>
            </a:extLst>
          </p:cNvPr>
          <p:cNvCxnSpPr>
            <a:cxnSpLocks/>
          </p:cNvCxnSpPr>
          <p:nvPr/>
        </p:nvCxnSpPr>
        <p:spPr>
          <a:xfrm flipV="1">
            <a:off x="5007429" y="5347063"/>
            <a:ext cx="278674" cy="69669"/>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FCD0182-2B50-4F43-B16D-22303C0747B5}"/>
              </a:ext>
            </a:extLst>
          </p:cNvPr>
          <p:cNvSpPr txBox="1"/>
          <p:nvPr/>
        </p:nvSpPr>
        <p:spPr>
          <a:xfrm>
            <a:off x="191588" y="240939"/>
            <a:ext cx="5704115" cy="1200329"/>
          </a:xfrm>
          <a:prstGeom prst="rect">
            <a:avLst/>
          </a:prstGeom>
          <a:noFill/>
        </p:spPr>
        <p:txBody>
          <a:bodyPr wrap="square" rtlCol="0">
            <a:spAutoFit/>
          </a:bodyPr>
          <a:lstStyle/>
          <a:p>
            <a:r>
              <a:rPr lang="en-US" dirty="0"/>
              <a:t>S1:</a:t>
            </a:r>
          </a:p>
          <a:p>
            <a:r>
              <a:rPr lang="en-GB" dirty="0"/>
              <a:t>Add one new bar (Ln) to be joined with an existing bar (Le)</a:t>
            </a:r>
          </a:p>
          <a:p>
            <a:r>
              <a:rPr lang="en-GB" dirty="0"/>
              <a:t>T1:</a:t>
            </a:r>
          </a:p>
          <a:p>
            <a:r>
              <a:rPr lang="en-GB" dirty="0"/>
              <a:t>Bar axis line generation for Ln</a:t>
            </a:r>
          </a:p>
        </p:txBody>
      </p:sp>
      <p:sp>
        <p:nvSpPr>
          <p:cNvPr id="16" name="TextBox 15">
            <a:extLst>
              <a:ext uri="{FF2B5EF4-FFF2-40B4-BE49-F238E27FC236}">
                <a16:creationId xmlns:a16="http://schemas.microsoft.com/office/drawing/2014/main" id="{E3DFD5D6-7B12-4990-B494-BC8BFE34FA09}"/>
              </a:ext>
            </a:extLst>
          </p:cNvPr>
          <p:cNvSpPr txBox="1"/>
          <p:nvPr/>
        </p:nvSpPr>
        <p:spPr>
          <a:xfrm>
            <a:off x="8120062" y="3866606"/>
            <a:ext cx="397866" cy="369332"/>
          </a:xfrm>
          <a:prstGeom prst="rect">
            <a:avLst/>
          </a:prstGeom>
          <a:noFill/>
        </p:spPr>
        <p:txBody>
          <a:bodyPr wrap="none" rtlCol="0">
            <a:spAutoFit/>
          </a:bodyPr>
          <a:lstStyle/>
          <a:p>
            <a:r>
              <a:rPr lang="en-US" dirty="0"/>
              <a:t>Le</a:t>
            </a:r>
            <a:endParaRPr lang="en-GB" dirty="0"/>
          </a:p>
        </p:txBody>
      </p:sp>
      <p:sp>
        <p:nvSpPr>
          <p:cNvPr id="17" name="TextBox 16">
            <a:extLst>
              <a:ext uri="{FF2B5EF4-FFF2-40B4-BE49-F238E27FC236}">
                <a16:creationId xmlns:a16="http://schemas.microsoft.com/office/drawing/2014/main" id="{44AC7900-9311-4C99-9243-4AD91CC7D9B1}"/>
              </a:ext>
            </a:extLst>
          </p:cNvPr>
          <p:cNvSpPr txBox="1"/>
          <p:nvPr/>
        </p:nvSpPr>
        <p:spPr>
          <a:xfrm>
            <a:off x="6296298" y="442674"/>
            <a:ext cx="404278" cy="369332"/>
          </a:xfrm>
          <a:prstGeom prst="rect">
            <a:avLst/>
          </a:prstGeom>
          <a:noFill/>
        </p:spPr>
        <p:txBody>
          <a:bodyPr wrap="none" rtlCol="0">
            <a:spAutoFit/>
          </a:bodyPr>
          <a:lstStyle/>
          <a:p>
            <a:r>
              <a:rPr lang="en-US" dirty="0"/>
              <a:t>Ln</a:t>
            </a:r>
            <a:endParaRPr lang="en-GB" dirty="0"/>
          </a:p>
        </p:txBody>
      </p:sp>
      <p:sp>
        <p:nvSpPr>
          <p:cNvPr id="19" name="TextBox 18">
            <a:extLst>
              <a:ext uri="{FF2B5EF4-FFF2-40B4-BE49-F238E27FC236}">
                <a16:creationId xmlns:a16="http://schemas.microsoft.com/office/drawing/2014/main" id="{AC2112D0-F0D3-408C-AF89-9E8829FC0E75}"/>
              </a:ext>
            </a:extLst>
          </p:cNvPr>
          <p:cNvSpPr txBox="1"/>
          <p:nvPr/>
        </p:nvSpPr>
        <p:spPr>
          <a:xfrm>
            <a:off x="191588" y="1812008"/>
            <a:ext cx="3988526" cy="3970318"/>
          </a:xfrm>
          <a:prstGeom prst="rect">
            <a:avLst/>
          </a:prstGeom>
          <a:noFill/>
        </p:spPr>
        <p:txBody>
          <a:bodyPr wrap="square">
            <a:spAutoFit/>
          </a:bodyPr>
          <a:lstStyle/>
          <a:p>
            <a:r>
              <a:rPr lang="en-GB" dirty="0"/>
              <a:t>We assume that the designer already initialize Ln’s line to be at the right orientation (vector pointing direction), we only need the script to move it such that the shortest distance between Ln and Le equals to a </a:t>
            </a:r>
            <a:r>
              <a:rPr lang="en-GB" dirty="0" err="1"/>
              <a:t>preset</a:t>
            </a:r>
            <a:r>
              <a:rPr lang="en-GB" dirty="0"/>
              <a:t> value D.</a:t>
            </a:r>
          </a:p>
          <a:p>
            <a:endParaRPr lang="en-GB" dirty="0"/>
          </a:p>
          <a:p>
            <a:r>
              <a:rPr lang="en-GB" dirty="0"/>
              <a:t>This only needs us to compute the shortest segment between two lines and then move Ln along the direction of that segment. This shortest segment between two infinitely long lines has an analytical solution. [refer code] and sec 3.5 of the CADJ paper</a:t>
            </a:r>
          </a:p>
        </p:txBody>
      </p:sp>
      <p:pic>
        <p:nvPicPr>
          <p:cNvPr id="21" name="Picture 20">
            <a:extLst>
              <a:ext uri="{FF2B5EF4-FFF2-40B4-BE49-F238E27FC236}">
                <a16:creationId xmlns:a16="http://schemas.microsoft.com/office/drawing/2014/main" id="{05B29693-41C9-44EF-B7F3-57F71F7F0D58}"/>
              </a:ext>
            </a:extLst>
          </p:cNvPr>
          <p:cNvPicPr>
            <a:picLocks noChangeAspect="1"/>
          </p:cNvPicPr>
          <p:nvPr/>
        </p:nvPicPr>
        <p:blipFill>
          <a:blip r:embed="rId3"/>
          <a:stretch>
            <a:fillRect/>
          </a:stretch>
        </p:blipFill>
        <p:spPr>
          <a:xfrm>
            <a:off x="7447957" y="115409"/>
            <a:ext cx="4656190" cy="2800905"/>
          </a:xfrm>
          <a:prstGeom prst="rect">
            <a:avLst/>
          </a:prstGeom>
        </p:spPr>
      </p:pic>
      <p:sp>
        <p:nvSpPr>
          <p:cNvPr id="22" name="TextBox 21">
            <a:extLst>
              <a:ext uri="{FF2B5EF4-FFF2-40B4-BE49-F238E27FC236}">
                <a16:creationId xmlns:a16="http://schemas.microsoft.com/office/drawing/2014/main" id="{B7788044-8F6F-42BB-A283-81AFC5EFC8E0}"/>
              </a:ext>
            </a:extLst>
          </p:cNvPr>
          <p:cNvSpPr txBox="1"/>
          <p:nvPr/>
        </p:nvSpPr>
        <p:spPr>
          <a:xfrm>
            <a:off x="8608419" y="3029106"/>
            <a:ext cx="3423821" cy="1754326"/>
          </a:xfrm>
          <a:prstGeom prst="rect">
            <a:avLst/>
          </a:prstGeom>
          <a:noFill/>
        </p:spPr>
        <p:txBody>
          <a:bodyPr wrap="square" rtlCol="0">
            <a:spAutoFit/>
          </a:bodyPr>
          <a:lstStyle/>
          <a:p>
            <a:r>
              <a:rPr lang="en-US" dirty="0"/>
              <a:t>Here we express a line with an anchor point x and a normal n.</a:t>
            </a:r>
          </a:p>
          <a:p>
            <a:r>
              <a:rPr lang="en-US" dirty="0"/>
              <a:t>The shortest segment’s two end points can be found by optimizing for the t parameter to locate them on both lines.</a:t>
            </a:r>
            <a:endParaRPr lang="en-GB" dirty="0"/>
          </a:p>
        </p:txBody>
      </p:sp>
    </p:spTree>
    <p:extLst>
      <p:ext uri="{BB962C8B-B14F-4D97-AF65-F5344CB8AC3E}">
        <p14:creationId xmlns:p14="http://schemas.microsoft.com/office/powerpoint/2010/main" val="2630195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6F229A-BC89-4813-9E2A-B52609FC53CC}"/>
              </a:ext>
            </a:extLst>
          </p:cNvPr>
          <p:cNvPicPr>
            <a:picLocks noChangeAspect="1"/>
          </p:cNvPicPr>
          <p:nvPr/>
        </p:nvPicPr>
        <p:blipFill>
          <a:blip r:embed="rId2">
            <a:alphaModFix amt="50000"/>
          </a:blip>
          <a:stretch>
            <a:fillRect/>
          </a:stretch>
        </p:blipFill>
        <p:spPr>
          <a:xfrm>
            <a:off x="3397345" y="672252"/>
            <a:ext cx="5397310" cy="5513495"/>
          </a:xfrm>
          <a:prstGeom prst="rect">
            <a:avLst/>
          </a:prstGeom>
        </p:spPr>
      </p:pic>
      <p:cxnSp>
        <p:nvCxnSpPr>
          <p:cNvPr id="8" name="Straight Arrow Connector 7">
            <a:extLst>
              <a:ext uri="{FF2B5EF4-FFF2-40B4-BE49-F238E27FC236}">
                <a16:creationId xmlns:a16="http://schemas.microsoft.com/office/drawing/2014/main" id="{89A53CC7-65C5-451F-AB50-0C23934767DA}"/>
              </a:ext>
            </a:extLst>
          </p:cNvPr>
          <p:cNvCxnSpPr>
            <a:cxnSpLocks/>
          </p:cNvCxnSpPr>
          <p:nvPr/>
        </p:nvCxnSpPr>
        <p:spPr>
          <a:xfrm>
            <a:off x="6754651" y="2565400"/>
            <a:ext cx="774131" cy="8636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924F4EA-AAD1-40F2-A005-61955844E088}"/>
              </a:ext>
            </a:extLst>
          </p:cNvPr>
          <p:cNvCxnSpPr>
            <a:cxnSpLocks/>
          </p:cNvCxnSpPr>
          <p:nvPr/>
        </p:nvCxnSpPr>
        <p:spPr>
          <a:xfrm flipH="1">
            <a:off x="6504317" y="2565400"/>
            <a:ext cx="250333" cy="65225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331EA31-5F49-41C7-A2B9-CDF863F88090}"/>
              </a:ext>
            </a:extLst>
          </p:cNvPr>
          <p:cNvCxnSpPr>
            <a:cxnSpLocks/>
          </p:cNvCxnSpPr>
          <p:nvPr/>
        </p:nvCxnSpPr>
        <p:spPr>
          <a:xfrm flipH="1">
            <a:off x="6096000" y="2565400"/>
            <a:ext cx="658650" cy="540109"/>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3E9B60D-F1E2-4F09-A1CD-F880C3AAEA06}"/>
              </a:ext>
            </a:extLst>
          </p:cNvPr>
          <p:cNvCxnSpPr>
            <a:cxnSpLocks/>
          </p:cNvCxnSpPr>
          <p:nvPr/>
        </p:nvCxnSpPr>
        <p:spPr>
          <a:xfrm>
            <a:off x="4701396" y="276045"/>
            <a:ext cx="4157932" cy="45892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86F309E-498C-4291-AFEE-CDA76B0F9803}"/>
              </a:ext>
            </a:extLst>
          </p:cNvPr>
          <p:cNvCxnSpPr>
            <a:cxnSpLocks/>
          </p:cNvCxnSpPr>
          <p:nvPr/>
        </p:nvCxnSpPr>
        <p:spPr>
          <a:xfrm>
            <a:off x="2769079" y="2363638"/>
            <a:ext cx="5011947" cy="4218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A8604E7-C248-4D6E-A902-801C030FDEA3}"/>
              </a:ext>
            </a:extLst>
          </p:cNvPr>
          <p:cNvCxnSpPr>
            <a:cxnSpLocks/>
          </p:cNvCxnSpPr>
          <p:nvPr/>
        </p:nvCxnSpPr>
        <p:spPr>
          <a:xfrm flipH="1">
            <a:off x="4212566" y="4123906"/>
            <a:ext cx="658650" cy="540109"/>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AC072D4-9B4B-44FD-8A7A-2EAB6EB135E2}"/>
              </a:ext>
            </a:extLst>
          </p:cNvPr>
          <p:cNvCxnSpPr>
            <a:cxnSpLocks/>
          </p:cNvCxnSpPr>
          <p:nvPr/>
        </p:nvCxnSpPr>
        <p:spPr>
          <a:xfrm>
            <a:off x="4871216" y="4123906"/>
            <a:ext cx="891229" cy="74139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BD9F627-CC95-42A3-B28B-CA82C08EF00E}"/>
              </a:ext>
            </a:extLst>
          </p:cNvPr>
          <p:cNvCxnSpPr>
            <a:cxnSpLocks/>
          </p:cNvCxnSpPr>
          <p:nvPr/>
        </p:nvCxnSpPr>
        <p:spPr>
          <a:xfrm flipH="1" flipV="1">
            <a:off x="4425351" y="3578349"/>
            <a:ext cx="445865" cy="54555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D0C38D61-FEA0-49A2-8377-A02EFAA90A69}"/>
              </a:ext>
            </a:extLst>
          </p:cNvPr>
          <p:cNvSpPr txBox="1"/>
          <p:nvPr/>
        </p:nvSpPr>
        <p:spPr>
          <a:xfrm>
            <a:off x="6994048" y="2461412"/>
            <a:ext cx="1573957" cy="369332"/>
          </a:xfrm>
          <a:prstGeom prst="rect">
            <a:avLst/>
          </a:prstGeom>
          <a:noFill/>
        </p:spPr>
        <p:txBody>
          <a:bodyPr wrap="none" rtlCol="0">
            <a:spAutoFit/>
          </a:bodyPr>
          <a:lstStyle/>
          <a:p>
            <a:r>
              <a:rPr lang="en-US" dirty="0"/>
              <a:t>Male joint OCF</a:t>
            </a:r>
            <a:endParaRPr lang="en-GB" dirty="0"/>
          </a:p>
        </p:txBody>
      </p:sp>
      <p:sp>
        <p:nvSpPr>
          <p:cNvPr id="35" name="TextBox 34">
            <a:extLst>
              <a:ext uri="{FF2B5EF4-FFF2-40B4-BE49-F238E27FC236}">
                <a16:creationId xmlns:a16="http://schemas.microsoft.com/office/drawing/2014/main" id="{FF73D5E7-6191-4231-ABD6-FCEB4A2F0DA7}"/>
              </a:ext>
            </a:extLst>
          </p:cNvPr>
          <p:cNvSpPr txBox="1"/>
          <p:nvPr/>
        </p:nvSpPr>
        <p:spPr>
          <a:xfrm>
            <a:off x="3914417" y="4969286"/>
            <a:ext cx="1778949" cy="369332"/>
          </a:xfrm>
          <a:prstGeom prst="rect">
            <a:avLst/>
          </a:prstGeom>
          <a:noFill/>
        </p:spPr>
        <p:txBody>
          <a:bodyPr wrap="none" rtlCol="0">
            <a:spAutoFit/>
          </a:bodyPr>
          <a:lstStyle/>
          <a:p>
            <a:r>
              <a:rPr lang="en-US" dirty="0"/>
              <a:t>Female joint OCF</a:t>
            </a:r>
            <a:endParaRPr lang="en-GB" dirty="0"/>
          </a:p>
        </p:txBody>
      </p:sp>
      <p:cxnSp>
        <p:nvCxnSpPr>
          <p:cNvPr id="37" name="Straight Arrow Connector 36">
            <a:extLst>
              <a:ext uri="{FF2B5EF4-FFF2-40B4-BE49-F238E27FC236}">
                <a16:creationId xmlns:a16="http://schemas.microsoft.com/office/drawing/2014/main" id="{28150787-56E0-417D-BB88-7D715A4291BC}"/>
              </a:ext>
            </a:extLst>
          </p:cNvPr>
          <p:cNvCxnSpPr>
            <a:cxnSpLocks/>
          </p:cNvCxnSpPr>
          <p:nvPr/>
        </p:nvCxnSpPr>
        <p:spPr>
          <a:xfrm>
            <a:off x="5979259" y="1244951"/>
            <a:ext cx="931653" cy="1148272"/>
          </a:xfrm>
          <a:prstGeom prst="straightConnector1">
            <a:avLst/>
          </a:prstGeom>
          <a:ln w="762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CDE595B-2D4B-4D0F-9C0B-6C8E99EEB0D7}"/>
              </a:ext>
            </a:extLst>
          </p:cNvPr>
          <p:cNvSpPr txBox="1"/>
          <p:nvPr/>
        </p:nvSpPr>
        <p:spPr>
          <a:xfrm>
            <a:off x="6354737" y="1284392"/>
            <a:ext cx="4000390" cy="369332"/>
          </a:xfrm>
          <a:prstGeom prst="rect">
            <a:avLst/>
          </a:prstGeom>
          <a:noFill/>
        </p:spPr>
        <p:txBody>
          <a:bodyPr wrap="none" rtlCol="0">
            <a:spAutoFit/>
          </a:bodyPr>
          <a:lstStyle/>
          <a:p>
            <a:r>
              <a:rPr lang="en-US" b="1" dirty="0">
                <a:solidFill>
                  <a:srgbClr val="7030A0"/>
                </a:solidFill>
              </a:rPr>
              <a:t>Male joint </a:t>
            </a:r>
            <a:r>
              <a:rPr lang="en-US" b="1" dirty="0" err="1">
                <a:solidFill>
                  <a:srgbClr val="7030A0"/>
                </a:solidFill>
              </a:rPr>
              <a:t>Dof</a:t>
            </a:r>
            <a:r>
              <a:rPr lang="en-US" b="1" dirty="0">
                <a:solidFill>
                  <a:srgbClr val="7030A0"/>
                </a:solidFill>
              </a:rPr>
              <a:t> 1: prismatic sliding (MJP)</a:t>
            </a:r>
            <a:endParaRPr lang="en-GB" b="1" dirty="0">
              <a:solidFill>
                <a:srgbClr val="7030A0"/>
              </a:solidFill>
            </a:endParaRPr>
          </a:p>
        </p:txBody>
      </p:sp>
      <p:sp>
        <p:nvSpPr>
          <p:cNvPr id="40" name="Freeform: Shape 39">
            <a:extLst>
              <a:ext uri="{FF2B5EF4-FFF2-40B4-BE49-F238E27FC236}">
                <a16:creationId xmlns:a16="http://schemas.microsoft.com/office/drawing/2014/main" id="{E3AABA68-B801-4007-9640-A10A574C3217}"/>
              </a:ext>
            </a:extLst>
          </p:cNvPr>
          <p:cNvSpPr/>
          <p:nvPr/>
        </p:nvSpPr>
        <p:spPr>
          <a:xfrm>
            <a:off x="7478269" y="3243532"/>
            <a:ext cx="1027376" cy="948906"/>
          </a:xfrm>
          <a:custGeom>
            <a:avLst/>
            <a:gdLst>
              <a:gd name="connsiteX0" fmla="*/ 112976 w 1027376"/>
              <a:gd name="connsiteY0" fmla="*/ 948906 h 948906"/>
              <a:gd name="connsiteX1" fmla="*/ 69844 w 1027376"/>
              <a:gd name="connsiteY1" fmla="*/ 897147 h 948906"/>
              <a:gd name="connsiteX2" fmla="*/ 9459 w 1027376"/>
              <a:gd name="connsiteY2" fmla="*/ 715993 h 948906"/>
              <a:gd name="connsiteX3" fmla="*/ 35339 w 1027376"/>
              <a:gd name="connsiteY3" fmla="*/ 396815 h 948906"/>
              <a:gd name="connsiteX4" fmla="*/ 95723 w 1027376"/>
              <a:gd name="connsiteY4" fmla="*/ 301925 h 948906"/>
              <a:gd name="connsiteX5" fmla="*/ 328637 w 1027376"/>
              <a:gd name="connsiteY5" fmla="*/ 60385 h 948906"/>
              <a:gd name="connsiteX6" fmla="*/ 630561 w 1027376"/>
              <a:gd name="connsiteY6" fmla="*/ 0 h 948906"/>
              <a:gd name="connsiteX7" fmla="*/ 794463 w 1027376"/>
              <a:gd name="connsiteY7" fmla="*/ 8626 h 948906"/>
              <a:gd name="connsiteX8" fmla="*/ 872101 w 1027376"/>
              <a:gd name="connsiteY8" fmla="*/ 17253 h 948906"/>
              <a:gd name="connsiteX9" fmla="*/ 1027376 w 1027376"/>
              <a:gd name="connsiteY9" fmla="*/ 189781 h 948906"/>
              <a:gd name="connsiteX10" fmla="*/ 1001497 w 1027376"/>
              <a:gd name="connsiteY10" fmla="*/ 560717 h 948906"/>
              <a:gd name="connsiteX11" fmla="*/ 984244 w 1027376"/>
              <a:gd name="connsiteY11" fmla="*/ 603849 h 94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7376" h="948906">
                <a:moveTo>
                  <a:pt x="112976" y="948906"/>
                </a:moveTo>
                <a:cubicBezTo>
                  <a:pt x="98599" y="931653"/>
                  <a:pt x="80751" y="916779"/>
                  <a:pt x="69844" y="897147"/>
                </a:cubicBezTo>
                <a:cubicBezTo>
                  <a:pt x="28367" y="822488"/>
                  <a:pt x="26417" y="792301"/>
                  <a:pt x="9459" y="715993"/>
                </a:cubicBezTo>
                <a:cubicBezTo>
                  <a:pt x="-1506" y="584403"/>
                  <a:pt x="-12430" y="553151"/>
                  <a:pt x="35339" y="396815"/>
                </a:cubicBezTo>
                <a:cubicBezTo>
                  <a:pt x="46295" y="360960"/>
                  <a:pt x="72864" y="331641"/>
                  <a:pt x="95723" y="301925"/>
                </a:cubicBezTo>
                <a:cubicBezTo>
                  <a:pt x="138649" y="246121"/>
                  <a:pt x="267292" y="100576"/>
                  <a:pt x="328637" y="60385"/>
                </a:cubicBezTo>
                <a:cubicBezTo>
                  <a:pt x="434394" y="-8904"/>
                  <a:pt x="507204" y="6168"/>
                  <a:pt x="630561" y="0"/>
                </a:cubicBezTo>
                <a:lnTo>
                  <a:pt x="794463" y="8626"/>
                </a:lnTo>
                <a:cubicBezTo>
                  <a:pt x="820435" y="10481"/>
                  <a:pt x="850291" y="3029"/>
                  <a:pt x="872101" y="17253"/>
                </a:cubicBezTo>
                <a:cubicBezTo>
                  <a:pt x="951972" y="69343"/>
                  <a:pt x="981527" y="121007"/>
                  <a:pt x="1027376" y="189781"/>
                </a:cubicBezTo>
                <a:cubicBezTo>
                  <a:pt x="1018750" y="313426"/>
                  <a:pt x="1014079" y="437411"/>
                  <a:pt x="1001497" y="560717"/>
                </a:cubicBezTo>
                <a:cubicBezTo>
                  <a:pt x="983335" y="738709"/>
                  <a:pt x="984244" y="611133"/>
                  <a:pt x="984244" y="603849"/>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9505F58C-B433-4590-AE9F-A6311762EDE3}"/>
              </a:ext>
            </a:extLst>
          </p:cNvPr>
          <p:cNvSpPr txBox="1"/>
          <p:nvPr/>
        </p:nvSpPr>
        <p:spPr>
          <a:xfrm>
            <a:off x="8462945" y="3939240"/>
            <a:ext cx="3755387" cy="646331"/>
          </a:xfrm>
          <a:prstGeom prst="rect">
            <a:avLst/>
          </a:prstGeom>
          <a:noFill/>
        </p:spPr>
        <p:txBody>
          <a:bodyPr wrap="none" rtlCol="0">
            <a:spAutoFit/>
          </a:bodyPr>
          <a:lstStyle/>
          <a:p>
            <a:r>
              <a:rPr lang="en-US" b="1" dirty="0">
                <a:solidFill>
                  <a:srgbClr val="7030A0"/>
                </a:solidFill>
              </a:rPr>
              <a:t>Male joint </a:t>
            </a:r>
            <a:r>
              <a:rPr lang="en-US" b="1" dirty="0" err="1">
                <a:solidFill>
                  <a:srgbClr val="7030A0"/>
                </a:solidFill>
              </a:rPr>
              <a:t>Dof</a:t>
            </a:r>
            <a:r>
              <a:rPr lang="en-US" b="1" dirty="0">
                <a:solidFill>
                  <a:srgbClr val="7030A0"/>
                </a:solidFill>
              </a:rPr>
              <a:t> 2: revolute around the</a:t>
            </a:r>
          </a:p>
          <a:p>
            <a:r>
              <a:rPr lang="en-US" b="1" dirty="0">
                <a:solidFill>
                  <a:srgbClr val="7030A0"/>
                </a:solidFill>
              </a:rPr>
              <a:t>Bar axis of L1 (MJR)</a:t>
            </a:r>
            <a:endParaRPr lang="en-GB" b="1" dirty="0">
              <a:solidFill>
                <a:srgbClr val="7030A0"/>
              </a:solidFill>
            </a:endParaRPr>
          </a:p>
        </p:txBody>
      </p:sp>
      <p:sp>
        <p:nvSpPr>
          <p:cNvPr id="42" name="TextBox 41">
            <a:extLst>
              <a:ext uri="{FF2B5EF4-FFF2-40B4-BE49-F238E27FC236}">
                <a16:creationId xmlns:a16="http://schemas.microsoft.com/office/drawing/2014/main" id="{F825D460-6314-4883-B998-8A9C807EC26B}"/>
              </a:ext>
            </a:extLst>
          </p:cNvPr>
          <p:cNvSpPr txBox="1"/>
          <p:nvPr/>
        </p:nvSpPr>
        <p:spPr>
          <a:xfrm>
            <a:off x="4392395" y="198932"/>
            <a:ext cx="399468" cy="369332"/>
          </a:xfrm>
          <a:prstGeom prst="rect">
            <a:avLst/>
          </a:prstGeom>
          <a:noFill/>
        </p:spPr>
        <p:txBody>
          <a:bodyPr wrap="none" rtlCol="0">
            <a:spAutoFit/>
          </a:bodyPr>
          <a:lstStyle/>
          <a:p>
            <a:r>
              <a:rPr lang="en-US" dirty="0"/>
              <a:t>L1</a:t>
            </a:r>
            <a:endParaRPr lang="en-GB" dirty="0"/>
          </a:p>
        </p:txBody>
      </p:sp>
      <p:sp>
        <p:nvSpPr>
          <p:cNvPr id="43" name="TextBox 42">
            <a:extLst>
              <a:ext uri="{FF2B5EF4-FFF2-40B4-BE49-F238E27FC236}">
                <a16:creationId xmlns:a16="http://schemas.microsoft.com/office/drawing/2014/main" id="{C72DD547-4CAC-431B-9924-ED4E742CDEE0}"/>
              </a:ext>
            </a:extLst>
          </p:cNvPr>
          <p:cNvSpPr txBox="1"/>
          <p:nvPr/>
        </p:nvSpPr>
        <p:spPr>
          <a:xfrm>
            <a:off x="2469633" y="1941939"/>
            <a:ext cx="399468" cy="369332"/>
          </a:xfrm>
          <a:prstGeom prst="rect">
            <a:avLst/>
          </a:prstGeom>
          <a:noFill/>
        </p:spPr>
        <p:txBody>
          <a:bodyPr wrap="none" rtlCol="0">
            <a:spAutoFit/>
          </a:bodyPr>
          <a:lstStyle/>
          <a:p>
            <a:r>
              <a:rPr lang="en-US" dirty="0"/>
              <a:t>L2</a:t>
            </a:r>
            <a:endParaRPr lang="en-GB" dirty="0"/>
          </a:p>
        </p:txBody>
      </p:sp>
      <p:sp>
        <p:nvSpPr>
          <p:cNvPr id="44" name="TextBox 43">
            <a:extLst>
              <a:ext uri="{FF2B5EF4-FFF2-40B4-BE49-F238E27FC236}">
                <a16:creationId xmlns:a16="http://schemas.microsoft.com/office/drawing/2014/main" id="{2627B5EC-E258-40E1-9A98-1299DA3D56B8}"/>
              </a:ext>
            </a:extLst>
          </p:cNvPr>
          <p:cNvSpPr txBox="1"/>
          <p:nvPr/>
        </p:nvSpPr>
        <p:spPr>
          <a:xfrm>
            <a:off x="2595069" y="5550479"/>
            <a:ext cx="3958776" cy="646331"/>
          </a:xfrm>
          <a:prstGeom prst="rect">
            <a:avLst/>
          </a:prstGeom>
          <a:noFill/>
        </p:spPr>
        <p:txBody>
          <a:bodyPr wrap="none" rtlCol="0">
            <a:spAutoFit/>
          </a:bodyPr>
          <a:lstStyle/>
          <a:p>
            <a:r>
              <a:rPr lang="en-US" b="1" dirty="0">
                <a:solidFill>
                  <a:srgbClr val="7030A0"/>
                </a:solidFill>
              </a:rPr>
              <a:t>Female joint </a:t>
            </a:r>
            <a:r>
              <a:rPr lang="en-US" b="1" dirty="0" err="1">
                <a:solidFill>
                  <a:srgbClr val="7030A0"/>
                </a:solidFill>
              </a:rPr>
              <a:t>Dof</a:t>
            </a:r>
            <a:r>
              <a:rPr lang="en-US" b="1" dirty="0">
                <a:solidFill>
                  <a:srgbClr val="7030A0"/>
                </a:solidFill>
              </a:rPr>
              <a:t> 2: revolute around the</a:t>
            </a:r>
          </a:p>
          <a:p>
            <a:r>
              <a:rPr lang="en-US" b="1" dirty="0">
                <a:solidFill>
                  <a:srgbClr val="7030A0"/>
                </a:solidFill>
              </a:rPr>
              <a:t>Bar axis of L2 (FJR)</a:t>
            </a:r>
            <a:endParaRPr lang="en-GB" b="1" dirty="0">
              <a:solidFill>
                <a:srgbClr val="7030A0"/>
              </a:solidFill>
            </a:endParaRPr>
          </a:p>
        </p:txBody>
      </p:sp>
      <p:sp>
        <p:nvSpPr>
          <p:cNvPr id="45" name="TextBox 44">
            <a:extLst>
              <a:ext uri="{FF2B5EF4-FFF2-40B4-BE49-F238E27FC236}">
                <a16:creationId xmlns:a16="http://schemas.microsoft.com/office/drawing/2014/main" id="{7C47FEDE-EEFC-4B5A-B817-1B5ED83ECFD1}"/>
              </a:ext>
            </a:extLst>
          </p:cNvPr>
          <p:cNvSpPr txBox="1"/>
          <p:nvPr/>
        </p:nvSpPr>
        <p:spPr>
          <a:xfrm>
            <a:off x="244170" y="4166416"/>
            <a:ext cx="4095417" cy="369332"/>
          </a:xfrm>
          <a:prstGeom prst="rect">
            <a:avLst/>
          </a:prstGeom>
          <a:noFill/>
        </p:spPr>
        <p:txBody>
          <a:bodyPr wrap="none" rtlCol="0">
            <a:spAutoFit/>
          </a:bodyPr>
          <a:lstStyle/>
          <a:p>
            <a:r>
              <a:rPr lang="en-US" b="1" dirty="0">
                <a:solidFill>
                  <a:srgbClr val="7030A0"/>
                </a:solidFill>
              </a:rPr>
              <a:t>Female joint </a:t>
            </a:r>
            <a:r>
              <a:rPr lang="en-US" b="1" dirty="0" err="1">
                <a:solidFill>
                  <a:srgbClr val="7030A0"/>
                </a:solidFill>
              </a:rPr>
              <a:t>Dof</a:t>
            </a:r>
            <a:r>
              <a:rPr lang="en-US" b="1" dirty="0">
                <a:solidFill>
                  <a:srgbClr val="7030A0"/>
                </a:solidFill>
              </a:rPr>
              <a:t> 1: prismatic sliding (FJP)</a:t>
            </a:r>
            <a:endParaRPr lang="en-GB" b="1" dirty="0">
              <a:solidFill>
                <a:srgbClr val="7030A0"/>
              </a:solidFill>
            </a:endParaRPr>
          </a:p>
        </p:txBody>
      </p:sp>
      <p:sp>
        <p:nvSpPr>
          <p:cNvPr id="46" name="Freeform: Shape 45">
            <a:extLst>
              <a:ext uri="{FF2B5EF4-FFF2-40B4-BE49-F238E27FC236}">
                <a16:creationId xmlns:a16="http://schemas.microsoft.com/office/drawing/2014/main" id="{9CDF2768-DD7F-4591-952C-C243DDF98681}"/>
              </a:ext>
            </a:extLst>
          </p:cNvPr>
          <p:cNvSpPr/>
          <p:nvPr/>
        </p:nvSpPr>
        <p:spPr>
          <a:xfrm>
            <a:off x="6619198" y="5531852"/>
            <a:ext cx="1027376" cy="948906"/>
          </a:xfrm>
          <a:custGeom>
            <a:avLst/>
            <a:gdLst>
              <a:gd name="connsiteX0" fmla="*/ 112976 w 1027376"/>
              <a:gd name="connsiteY0" fmla="*/ 948906 h 948906"/>
              <a:gd name="connsiteX1" fmla="*/ 69844 w 1027376"/>
              <a:gd name="connsiteY1" fmla="*/ 897147 h 948906"/>
              <a:gd name="connsiteX2" fmla="*/ 9459 w 1027376"/>
              <a:gd name="connsiteY2" fmla="*/ 715993 h 948906"/>
              <a:gd name="connsiteX3" fmla="*/ 35339 w 1027376"/>
              <a:gd name="connsiteY3" fmla="*/ 396815 h 948906"/>
              <a:gd name="connsiteX4" fmla="*/ 95723 w 1027376"/>
              <a:gd name="connsiteY4" fmla="*/ 301925 h 948906"/>
              <a:gd name="connsiteX5" fmla="*/ 328637 w 1027376"/>
              <a:gd name="connsiteY5" fmla="*/ 60385 h 948906"/>
              <a:gd name="connsiteX6" fmla="*/ 630561 w 1027376"/>
              <a:gd name="connsiteY6" fmla="*/ 0 h 948906"/>
              <a:gd name="connsiteX7" fmla="*/ 794463 w 1027376"/>
              <a:gd name="connsiteY7" fmla="*/ 8626 h 948906"/>
              <a:gd name="connsiteX8" fmla="*/ 872101 w 1027376"/>
              <a:gd name="connsiteY8" fmla="*/ 17253 h 948906"/>
              <a:gd name="connsiteX9" fmla="*/ 1027376 w 1027376"/>
              <a:gd name="connsiteY9" fmla="*/ 189781 h 948906"/>
              <a:gd name="connsiteX10" fmla="*/ 1001497 w 1027376"/>
              <a:gd name="connsiteY10" fmla="*/ 560717 h 948906"/>
              <a:gd name="connsiteX11" fmla="*/ 984244 w 1027376"/>
              <a:gd name="connsiteY11" fmla="*/ 603849 h 94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7376" h="948906">
                <a:moveTo>
                  <a:pt x="112976" y="948906"/>
                </a:moveTo>
                <a:cubicBezTo>
                  <a:pt x="98599" y="931653"/>
                  <a:pt x="80751" y="916779"/>
                  <a:pt x="69844" y="897147"/>
                </a:cubicBezTo>
                <a:cubicBezTo>
                  <a:pt x="28367" y="822488"/>
                  <a:pt x="26417" y="792301"/>
                  <a:pt x="9459" y="715993"/>
                </a:cubicBezTo>
                <a:cubicBezTo>
                  <a:pt x="-1506" y="584403"/>
                  <a:pt x="-12430" y="553151"/>
                  <a:pt x="35339" y="396815"/>
                </a:cubicBezTo>
                <a:cubicBezTo>
                  <a:pt x="46295" y="360960"/>
                  <a:pt x="72864" y="331641"/>
                  <a:pt x="95723" y="301925"/>
                </a:cubicBezTo>
                <a:cubicBezTo>
                  <a:pt x="138649" y="246121"/>
                  <a:pt x="267292" y="100576"/>
                  <a:pt x="328637" y="60385"/>
                </a:cubicBezTo>
                <a:cubicBezTo>
                  <a:pt x="434394" y="-8904"/>
                  <a:pt x="507204" y="6168"/>
                  <a:pt x="630561" y="0"/>
                </a:cubicBezTo>
                <a:lnTo>
                  <a:pt x="794463" y="8626"/>
                </a:lnTo>
                <a:cubicBezTo>
                  <a:pt x="820435" y="10481"/>
                  <a:pt x="850291" y="3029"/>
                  <a:pt x="872101" y="17253"/>
                </a:cubicBezTo>
                <a:cubicBezTo>
                  <a:pt x="951972" y="69343"/>
                  <a:pt x="981527" y="121007"/>
                  <a:pt x="1027376" y="189781"/>
                </a:cubicBezTo>
                <a:cubicBezTo>
                  <a:pt x="1018750" y="313426"/>
                  <a:pt x="1014079" y="437411"/>
                  <a:pt x="1001497" y="560717"/>
                </a:cubicBezTo>
                <a:cubicBezTo>
                  <a:pt x="983335" y="738709"/>
                  <a:pt x="984244" y="611133"/>
                  <a:pt x="984244" y="603849"/>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7" name="Straight Arrow Connector 46">
            <a:extLst>
              <a:ext uri="{FF2B5EF4-FFF2-40B4-BE49-F238E27FC236}">
                <a16:creationId xmlns:a16="http://schemas.microsoft.com/office/drawing/2014/main" id="{3C22DC84-CF7E-4313-B0E8-08EA02B9267D}"/>
              </a:ext>
            </a:extLst>
          </p:cNvPr>
          <p:cNvCxnSpPr>
            <a:cxnSpLocks/>
          </p:cNvCxnSpPr>
          <p:nvPr/>
        </p:nvCxnSpPr>
        <p:spPr>
          <a:xfrm>
            <a:off x="3543767" y="3086162"/>
            <a:ext cx="931653" cy="1148272"/>
          </a:xfrm>
          <a:prstGeom prst="straightConnector1">
            <a:avLst/>
          </a:prstGeom>
          <a:ln w="762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8C2F09A1-143E-43D4-8572-3FB761EC1751}"/>
              </a:ext>
            </a:extLst>
          </p:cNvPr>
          <p:cNvSpPr txBox="1"/>
          <p:nvPr/>
        </p:nvSpPr>
        <p:spPr>
          <a:xfrm>
            <a:off x="4150619" y="2469416"/>
            <a:ext cx="2377382" cy="646331"/>
          </a:xfrm>
          <a:prstGeom prst="rect">
            <a:avLst/>
          </a:prstGeom>
          <a:noFill/>
        </p:spPr>
        <p:txBody>
          <a:bodyPr wrap="none" rtlCol="0">
            <a:spAutoFit/>
          </a:bodyPr>
          <a:lstStyle/>
          <a:p>
            <a:r>
              <a:rPr lang="en-US" b="1" dirty="0">
                <a:solidFill>
                  <a:srgbClr val="7030A0"/>
                </a:solidFill>
              </a:rPr>
              <a:t>Joint-joint rotation </a:t>
            </a:r>
            <a:r>
              <a:rPr lang="en-US" b="1" dirty="0" err="1">
                <a:solidFill>
                  <a:srgbClr val="7030A0"/>
                </a:solidFill>
              </a:rPr>
              <a:t>Dof</a:t>
            </a:r>
            <a:endParaRPr lang="en-US" b="1" dirty="0">
              <a:solidFill>
                <a:srgbClr val="7030A0"/>
              </a:solidFill>
            </a:endParaRPr>
          </a:p>
          <a:p>
            <a:r>
              <a:rPr lang="en-US" b="1" dirty="0">
                <a:solidFill>
                  <a:srgbClr val="7030A0"/>
                </a:solidFill>
              </a:rPr>
              <a:t>(JJR)</a:t>
            </a:r>
            <a:endParaRPr lang="en-GB" b="1" dirty="0">
              <a:solidFill>
                <a:srgbClr val="7030A0"/>
              </a:solidFill>
            </a:endParaRPr>
          </a:p>
        </p:txBody>
      </p:sp>
      <p:sp>
        <p:nvSpPr>
          <p:cNvPr id="49" name="Freeform: Shape 48">
            <a:extLst>
              <a:ext uri="{FF2B5EF4-FFF2-40B4-BE49-F238E27FC236}">
                <a16:creationId xmlns:a16="http://schemas.microsoft.com/office/drawing/2014/main" id="{F104BD9C-B768-4100-B043-EC3F47B626E1}"/>
              </a:ext>
            </a:extLst>
          </p:cNvPr>
          <p:cNvSpPr/>
          <p:nvPr/>
        </p:nvSpPr>
        <p:spPr>
          <a:xfrm rot="2815058">
            <a:off x="5339635" y="3149027"/>
            <a:ext cx="696100" cy="558621"/>
          </a:xfrm>
          <a:custGeom>
            <a:avLst/>
            <a:gdLst>
              <a:gd name="connsiteX0" fmla="*/ 112976 w 1027376"/>
              <a:gd name="connsiteY0" fmla="*/ 948906 h 948906"/>
              <a:gd name="connsiteX1" fmla="*/ 69844 w 1027376"/>
              <a:gd name="connsiteY1" fmla="*/ 897147 h 948906"/>
              <a:gd name="connsiteX2" fmla="*/ 9459 w 1027376"/>
              <a:gd name="connsiteY2" fmla="*/ 715993 h 948906"/>
              <a:gd name="connsiteX3" fmla="*/ 35339 w 1027376"/>
              <a:gd name="connsiteY3" fmla="*/ 396815 h 948906"/>
              <a:gd name="connsiteX4" fmla="*/ 95723 w 1027376"/>
              <a:gd name="connsiteY4" fmla="*/ 301925 h 948906"/>
              <a:gd name="connsiteX5" fmla="*/ 328637 w 1027376"/>
              <a:gd name="connsiteY5" fmla="*/ 60385 h 948906"/>
              <a:gd name="connsiteX6" fmla="*/ 630561 w 1027376"/>
              <a:gd name="connsiteY6" fmla="*/ 0 h 948906"/>
              <a:gd name="connsiteX7" fmla="*/ 794463 w 1027376"/>
              <a:gd name="connsiteY7" fmla="*/ 8626 h 948906"/>
              <a:gd name="connsiteX8" fmla="*/ 872101 w 1027376"/>
              <a:gd name="connsiteY8" fmla="*/ 17253 h 948906"/>
              <a:gd name="connsiteX9" fmla="*/ 1027376 w 1027376"/>
              <a:gd name="connsiteY9" fmla="*/ 189781 h 948906"/>
              <a:gd name="connsiteX10" fmla="*/ 1001497 w 1027376"/>
              <a:gd name="connsiteY10" fmla="*/ 560717 h 948906"/>
              <a:gd name="connsiteX11" fmla="*/ 984244 w 1027376"/>
              <a:gd name="connsiteY11" fmla="*/ 603849 h 94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7376" h="948906">
                <a:moveTo>
                  <a:pt x="112976" y="948906"/>
                </a:moveTo>
                <a:cubicBezTo>
                  <a:pt x="98599" y="931653"/>
                  <a:pt x="80751" y="916779"/>
                  <a:pt x="69844" y="897147"/>
                </a:cubicBezTo>
                <a:cubicBezTo>
                  <a:pt x="28367" y="822488"/>
                  <a:pt x="26417" y="792301"/>
                  <a:pt x="9459" y="715993"/>
                </a:cubicBezTo>
                <a:cubicBezTo>
                  <a:pt x="-1506" y="584403"/>
                  <a:pt x="-12430" y="553151"/>
                  <a:pt x="35339" y="396815"/>
                </a:cubicBezTo>
                <a:cubicBezTo>
                  <a:pt x="46295" y="360960"/>
                  <a:pt x="72864" y="331641"/>
                  <a:pt x="95723" y="301925"/>
                </a:cubicBezTo>
                <a:cubicBezTo>
                  <a:pt x="138649" y="246121"/>
                  <a:pt x="267292" y="100576"/>
                  <a:pt x="328637" y="60385"/>
                </a:cubicBezTo>
                <a:cubicBezTo>
                  <a:pt x="434394" y="-8904"/>
                  <a:pt x="507204" y="6168"/>
                  <a:pt x="630561" y="0"/>
                </a:cubicBezTo>
                <a:lnTo>
                  <a:pt x="794463" y="8626"/>
                </a:lnTo>
                <a:cubicBezTo>
                  <a:pt x="820435" y="10481"/>
                  <a:pt x="850291" y="3029"/>
                  <a:pt x="872101" y="17253"/>
                </a:cubicBezTo>
                <a:cubicBezTo>
                  <a:pt x="951972" y="69343"/>
                  <a:pt x="981527" y="121007"/>
                  <a:pt x="1027376" y="189781"/>
                </a:cubicBezTo>
                <a:cubicBezTo>
                  <a:pt x="1018750" y="313426"/>
                  <a:pt x="1014079" y="437411"/>
                  <a:pt x="1001497" y="560717"/>
                </a:cubicBezTo>
                <a:cubicBezTo>
                  <a:pt x="983335" y="738709"/>
                  <a:pt x="984244" y="611133"/>
                  <a:pt x="984244" y="603849"/>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Box 49">
            <a:extLst>
              <a:ext uri="{FF2B5EF4-FFF2-40B4-BE49-F238E27FC236}">
                <a16:creationId xmlns:a16="http://schemas.microsoft.com/office/drawing/2014/main" id="{6A42CED5-28EB-4F61-8C11-C83D7E0F0BA5}"/>
              </a:ext>
            </a:extLst>
          </p:cNvPr>
          <p:cNvSpPr txBox="1"/>
          <p:nvPr/>
        </p:nvSpPr>
        <p:spPr>
          <a:xfrm>
            <a:off x="197785" y="276044"/>
            <a:ext cx="2310867" cy="3416320"/>
          </a:xfrm>
          <a:prstGeom prst="rect">
            <a:avLst/>
          </a:prstGeom>
          <a:noFill/>
        </p:spPr>
        <p:txBody>
          <a:bodyPr wrap="square" rtlCol="0">
            <a:spAutoFit/>
          </a:bodyPr>
          <a:lstStyle/>
          <a:p>
            <a:r>
              <a:rPr lang="en-US" dirty="0"/>
              <a:t>Before we move on to S1-T2, we can view our joints as rigid body links of a multi-</a:t>
            </a:r>
            <a:r>
              <a:rPr lang="en-US" dirty="0" err="1"/>
              <a:t>dof</a:t>
            </a:r>
            <a:r>
              <a:rPr lang="en-US" dirty="0"/>
              <a:t> kinematic robots. Here are the convention of each link’s object frame, as well as movable joints.</a:t>
            </a:r>
          </a:p>
          <a:p>
            <a:r>
              <a:rPr lang="en-US" dirty="0"/>
              <a:t>A more detailed OCF </a:t>
            </a:r>
            <a:r>
              <a:rPr lang="en-US" dirty="0" err="1"/>
              <a:t>convetion</a:t>
            </a:r>
            <a:r>
              <a:rPr lang="en-US" dirty="0"/>
              <a:t> is given in the next slide.</a:t>
            </a:r>
            <a:endParaRPr lang="en-GB" dirty="0"/>
          </a:p>
        </p:txBody>
      </p:sp>
    </p:spTree>
    <p:extLst>
      <p:ext uri="{BB962C8B-B14F-4D97-AF65-F5344CB8AC3E}">
        <p14:creationId xmlns:p14="http://schemas.microsoft.com/office/powerpoint/2010/main" val="1488857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CE10E9-DA0F-4418-89B8-6E4762EE0C47}"/>
              </a:ext>
            </a:extLst>
          </p:cNvPr>
          <p:cNvPicPr>
            <a:picLocks noChangeAspect="1"/>
          </p:cNvPicPr>
          <p:nvPr/>
        </p:nvPicPr>
        <p:blipFill>
          <a:blip r:embed="rId2">
            <a:alphaModFix amt="35000"/>
          </a:blip>
          <a:stretch>
            <a:fillRect/>
          </a:stretch>
        </p:blipFill>
        <p:spPr>
          <a:xfrm>
            <a:off x="3051358" y="364067"/>
            <a:ext cx="5922717" cy="5872095"/>
          </a:xfrm>
          <a:prstGeom prst="rect">
            <a:avLst/>
          </a:prstGeom>
        </p:spPr>
      </p:pic>
      <p:cxnSp>
        <p:nvCxnSpPr>
          <p:cNvPr id="7" name="Straight Arrow Connector 6">
            <a:extLst>
              <a:ext uri="{FF2B5EF4-FFF2-40B4-BE49-F238E27FC236}">
                <a16:creationId xmlns:a16="http://schemas.microsoft.com/office/drawing/2014/main" id="{8FDB1F57-63F5-42CF-8BFE-9E781FE7F9E7}"/>
              </a:ext>
            </a:extLst>
          </p:cNvPr>
          <p:cNvCxnSpPr/>
          <p:nvPr/>
        </p:nvCxnSpPr>
        <p:spPr>
          <a:xfrm flipV="1">
            <a:off x="6053665" y="609603"/>
            <a:ext cx="0" cy="17272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B5E5390-4F78-4B33-8620-300AA8EC6FD8}"/>
              </a:ext>
            </a:extLst>
          </p:cNvPr>
          <p:cNvCxnSpPr>
            <a:cxnSpLocks/>
          </p:cNvCxnSpPr>
          <p:nvPr/>
        </p:nvCxnSpPr>
        <p:spPr>
          <a:xfrm flipV="1">
            <a:off x="6053665" y="2083282"/>
            <a:ext cx="1478708" cy="25352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A1AE721-F983-4C34-80F6-061E2F7F92F0}"/>
              </a:ext>
            </a:extLst>
          </p:cNvPr>
          <p:cNvSpPr txBox="1"/>
          <p:nvPr/>
        </p:nvSpPr>
        <p:spPr>
          <a:xfrm>
            <a:off x="1625192" y="1693879"/>
            <a:ext cx="3077891" cy="3693319"/>
          </a:xfrm>
          <a:prstGeom prst="rect">
            <a:avLst/>
          </a:prstGeom>
          <a:noFill/>
        </p:spPr>
        <p:txBody>
          <a:bodyPr wrap="square" rtlCol="0">
            <a:spAutoFit/>
          </a:bodyPr>
          <a:lstStyle/>
          <a:p>
            <a:r>
              <a:rPr lang="en-US" dirty="0"/>
              <a:t>OCF convention</a:t>
            </a:r>
          </a:p>
          <a:p>
            <a:r>
              <a:rPr lang="en-US" dirty="0"/>
              <a:t>for </a:t>
            </a:r>
            <a:r>
              <a:rPr lang="en-US" b="1" dirty="0"/>
              <a:t>female joint</a:t>
            </a:r>
            <a:r>
              <a:rPr lang="en-US" dirty="0"/>
              <a:t>:</a:t>
            </a:r>
          </a:p>
          <a:p>
            <a:pPr marL="285750" indent="-285750">
              <a:buFont typeface="Arial" panose="020B0604020202020204" pitchFamily="34" charset="0"/>
              <a:buChar char="•"/>
            </a:pPr>
            <a:r>
              <a:rPr lang="en-GB" dirty="0"/>
              <a:t>Origin is the </a:t>
            </a:r>
            <a:r>
              <a:rPr lang="en-GB" dirty="0" err="1"/>
              <a:t>center</a:t>
            </a:r>
            <a:r>
              <a:rPr lang="en-GB" dirty="0"/>
              <a:t> of the male joint screw hole projected on the line. (see inset on top-left)</a:t>
            </a:r>
          </a:p>
          <a:p>
            <a:pPr marL="285750" indent="-285750">
              <a:buFont typeface="Arial" panose="020B0604020202020204" pitchFamily="34" charset="0"/>
              <a:buChar char="•"/>
            </a:pPr>
            <a:r>
              <a:rPr lang="en-GB" dirty="0"/>
              <a:t>X axis align with bar axis</a:t>
            </a:r>
          </a:p>
          <a:p>
            <a:pPr marL="285750" indent="-285750">
              <a:buFont typeface="Arial" panose="020B0604020202020204" pitchFamily="34" charset="0"/>
              <a:buChar char="•"/>
            </a:pPr>
            <a:r>
              <a:rPr lang="en-GB" dirty="0"/>
              <a:t>Y axis parallel to the edge of the </a:t>
            </a:r>
            <a:r>
              <a:rPr lang="en-GB" dirty="0" err="1"/>
              <a:t>brep</a:t>
            </a:r>
            <a:r>
              <a:rPr lang="en-GB" dirty="0"/>
              <a:t> (see inset top-right) </a:t>
            </a:r>
          </a:p>
          <a:p>
            <a:pPr marL="285750" indent="-285750">
              <a:buFont typeface="Arial" panose="020B0604020202020204" pitchFamily="34" charset="0"/>
              <a:buChar char="•"/>
            </a:pPr>
            <a:r>
              <a:rPr lang="en-GB" dirty="0"/>
              <a:t>Z axis pointing </a:t>
            </a:r>
            <a:r>
              <a:rPr lang="en-GB" b="1" dirty="0"/>
              <a:t>the same way as </a:t>
            </a:r>
            <a:r>
              <a:rPr lang="en-GB" dirty="0"/>
              <a:t>the male joint screwing direction</a:t>
            </a:r>
            <a:endParaRPr lang="en-GB" b="1" dirty="0"/>
          </a:p>
        </p:txBody>
      </p:sp>
      <p:cxnSp>
        <p:nvCxnSpPr>
          <p:cNvPr id="12" name="Straight Arrow Connector 11">
            <a:extLst>
              <a:ext uri="{FF2B5EF4-FFF2-40B4-BE49-F238E27FC236}">
                <a16:creationId xmlns:a16="http://schemas.microsoft.com/office/drawing/2014/main" id="{207C682A-87C5-4525-AC43-FBAF5A33E6CC}"/>
              </a:ext>
            </a:extLst>
          </p:cNvPr>
          <p:cNvCxnSpPr>
            <a:cxnSpLocks/>
          </p:cNvCxnSpPr>
          <p:nvPr/>
        </p:nvCxnSpPr>
        <p:spPr>
          <a:xfrm flipV="1">
            <a:off x="6858000" y="2929467"/>
            <a:ext cx="999067" cy="28357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0C8336F-3657-4FA7-A590-CC3C3D9FFB9F}"/>
              </a:ext>
            </a:extLst>
          </p:cNvPr>
          <p:cNvCxnSpPr>
            <a:cxnSpLocks/>
          </p:cNvCxnSpPr>
          <p:nvPr/>
        </p:nvCxnSpPr>
        <p:spPr>
          <a:xfrm>
            <a:off x="6857998" y="3213043"/>
            <a:ext cx="59269" cy="241729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DD15748C-4DD1-4B42-A6CA-107F2AE45350}"/>
              </a:ext>
            </a:extLst>
          </p:cNvPr>
          <p:cNvSpPr/>
          <p:nvPr/>
        </p:nvSpPr>
        <p:spPr>
          <a:xfrm>
            <a:off x="6525526" y="3213043"/>
            <a:ext cx="91120" cy="10589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20703C86-AB08-473E-AE90-430C26F99FA0}"/>
              </a:ext>
            </a:extLst>
          </p:cNvPr>
          <p:cNvSpPr txBox="1"/>
          <p:nvPr/>
        </p:nvSpPr>
        <p:spPr>
          <a:xfrm>
            <a:off x="5835218" y="3036844"/>
            <a:ext cx="732893" cy="369332"/>
          </a:xfrm>
          <a:prstGeom prst="rect">
            <a:avLst/>
          </a:prstGeom>
          <a:noFill/>
        </p:spPr>
        <p:txBody>
          <a:bodyPr wrap="none" rtlCol="0">
            <a:spAutoFit/>
          </a:bodyPr>
          <a:lstStyle/>
          <a:p>
            <a:r>
              <a:rPr lang="en-US" dirty="0"/>
              <a:t>M_P2</a:t>
            </a:r>
            <a:endParaRPr lang="en-GB" dirty="0"/>
          </a:p>
        </p:txBody>
      </p:sp>
      <p:pic>
        <p:nvPicPr>
          <p:cNvPr id="26" name="Picture 25">
            <a:extLst>
              <a:ext uri="{FF2B5EF4-FFF2-40B4-BE49-F238E27FC236}">
                <a16:creationId xmlns:a16="http://schemas.microsoft.com/office/drawing/2014/main" id="{87B02DC9-24E2-44DC-8B52-5453BC67657B}"/>
              </a:ext>
            </a:extLst>
          </p:cNvPr>
          <p:cNvPicPr>
            <a:picLocks noChangeAspect="1"/>
          </p:cNvPicPr>
          <p:nvPr/>
        </p:nvPicPr>
        <p:blipFill>
          <a:blip r:embed="rId3"/>
          <a:stretch>
            <a:fillRect/>
          </a:stretch>
        </p:blipFill>
        <p:spPr>
          <a:xfrm>
            <a:off x="6796780" y="276240"/>
            <a:ext cx="2190898" cy="1171725"/>
          </a:xfrm>
          <a:prstGeom prst="rect">
            <a:avLst/>
          </a:prstGeom>
        </p:spPr>
      </p:pic>
      <p:cxnSp>
        <p:nvCxnSpPr>
          <p:cNvPr id="27" name="Straight Arrow Connector 26">
            <a:extLst>
              <a:ext uri="{FF2B5EF4-FFF2-40B4-BE49-F238E27FC236}">
                <a16:creationId xmlns:a16="http://schemas.microsoft.com/office/drawing/2014/main" id="{EA85CB96-BE33-46B8-A4A3-91F16563929C}"/>
              </a:ext>
            </a:extLst>
          </p:cNvPr>
          <p:cNvCxnSpPr>
            <a:cxnSpLocks/>
          </p:cNvCxnSpPr>
          <p:nvPr/>
        </p:nvCxnSpPr>
        <p:spPr>
          <a:xfrm flipV="1">
            <a:off x="8446170" y="438226"/>
            <a:ext cx="337648" cy="39601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7E2CD27-11E6-4349-A0BA-A750D9F58B14}"/>
              </a:ext>
            </a:extLst>
          </p:cNvPr>
          <p:cNvSpPr txBox="1"/>
          <p:nvPr/>
        </p:nvSpPr>
        <p:spPr>
          <a:xfrm>
            <a:off x="8082486" y="3213043"/>
            <a:ext cx="3077891" cy="2585323"/>
          </a:xfrm>
          <a:prstGeom prst="rect">
            <a:avLst/>
          </a:prstGeom>
          <a:noFill/>
        </p:spPr>
        <p:txBody>
          <a:bodyPr wrap="square" rtlCol="0">
            <a:spAutoFit/>
          </a:bodyPr>
          <a:lstStyle/>
          <a:p>
            <a:r>
              <a:rPr lang="en-US" dirty="0"/>
              <a:t>OCF convention</a:t>
            </a:r>
          </a:p>
          <a:p>
            <a:r>
              <a:rPr lang="en-US" dirty="0"/>
              <a:t>for </a:t>
            </a:r>
            <a:r>
              <a:rPr lang="en-US" b="1" dirty="0"/>
              <a:t>male joint</a:t>
            </a:r>
            <a:r>
              <a:rPr lang="en-US" dirty="0"/>
              <a:t>:</a:t>
            </a:r>
          </a:p>
          <a:p>
            <a:pPr marL="285750" indent="-285750">
              <a:buFont typeface="Arial" panose="020B0604020202020204" pitchFamily="34" charset="0"/>
              <a:buChar char="•"/>
            </a:pPr>
            <a:r>
              <a:rPr lang="en-GB" dirty="0"/>
              <a:t>Origin at the midpoint between M_P1 and M_P2</a:t>
            </a:r>
          </a:p>
          <a:p>
            <a:pPr marL="285750" indent="-285750">
              <a:buFont typeface="Arial" panose="020B0604020202020204" pitchFamily="34" charset="0"/>
              <a:buChar char="•"/>
            </a:pPr>
            <a:r>
              <a:rPr lang="en-GB" dirty="0"/>
              <a:t>X axis align with bar axis</a:t>
            </a:r>
          </a:p>
          <a:p>
            <a:pPr marL="285750" indent="-285750">
              <a:buFont typeface="Arial" panose="020B0604020202020204" pitchFamily="34" charset="0"/>
              <a:buChar char="•"/>
            </a:pPr>
            <a:r>
              <a:rPr lang="en-GB" dirty="0"/>
              <a:t>Y axis parallel to the edge of the </a:t>
            </a:r>
            <a:r>
              <a:rPr lang="en-GB" dirty="0" err="1"/>
              <a:t>brep</a:t>
            </a:r>
            <a:r>
              <a:rPr lang="en-GB" dirty="0"/>
              <a:t> (see inset) </a:t>
            </a:r>
          </a:p>
          <a:p>
            <a:pPr marL="285750" indent="-285750">
              <a:buFont typeface="Arial" panose="020B0604020202020204" pitchFamily="34" charset="0"/>
              <a:buChar char="•"/>
            </a:pPr>
            <a:r>
              <a:rPr lang="en-GB" dirty="0"/>
              <a:t>Z axis pointing to the screw insertion direction</a:t>
            </a:r>
            <a:endParaRPr lang="en-GB" b="1" dirty="0"/>
          </a:p>
        </p:txBody>
      </p:sp>
      <p:sp>
        <p:nvSpPr>
          <p:cNvPr id="30" name="Oval 29">
            <a:extLst>
              <a:ext uri="{FF2B5EF4-FFF2-40B4-BE49-F238E27FC236}">
                <a16:creationId xmlns:a16="http://schemas.microsoft.com/office/drawing/2014/main" id="{72764412-3E0B-400C-8782-693F582B8F72}"/>
              </a:ext>
            </a:extLst>
          </p:cNvPr>
          <p:cNvSpPr/>
          <p:nvPr/>
        </p:nvSpPr>
        <p:spPr>
          <a:xfrm>
            <a:off x="7532373" y="2921000"/>
            <a:ext cx="91120" cy="10589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F4ED3DD7-2896-4894-8369-A227A3E81338}"/>
              </a:ext>
            </a:extLst>
          </p:cNvPr>
          <p:cNvSpPr txBox="1"/>
          <p:nvPr/>
        </p:nvSpPr>
        <p:spPr>
          <a:xfrm>
            <a:off x="6842065" y="2744801"/>
            <a:ext cx="732893" cy="369332"/>
          </a:xfrm>
          <a:prstGeom prst="rect">
            <a:avLst/>
          </a:prstGeom>
          <a:noFill/>
        </p:spPr>
        <p:txBody>
          <a:bodyPr wrap="none" rtlCol="0">
            <a:spAutoFit/>
          </a:bodyPr>
          <a:lstStyle/>
          <a:p>
            <a:r>
              <a:rPr lang="en-US" dirty="0"/>
              <a:t>M_P1</a:t>
            </a:r>
            <a:endParaRPr lang="en-GB" dirty="0"/>
          </a:p>
        </p:txBody>
      </p:sp>
      <p:cxnSp>
        <p:nvCxnSpPr>
          <p:cNvPr id="32" name="Straight Arrow Connector 31">
            <a:extLst>
              <a:ext uri="{FF2B5EF4-FFF2-40B4-BE49-F238E27FC236}">
                <a16:creationId xmlns:a16="http://schemas.microsoft.com/office/drawing/2014/main" id="{8DFE2826-BF3A-47CE-8823-26D17C72A071}"/>
              </a:ext>
            </a:extLst>
          </p:cNvPr>
          <p:cNvCxnSpPr>
            <a:cxnSpLocks/>
          </p:cNvCxnSpPr>
          <p:nvPr/>
        </p:nvCxnSpPr>
        <p:spPr>
          <a:xfrm flipH="1" flipV="1">
            <a:off x="5142817" y="2218270"/>
            <a:ext cx="910848" cy="99512"/>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98F85E4-5769-4A25-A650-73D296708E48}"/>
              </a:ext>
            </a:extLst>
          </p:cNvPr>
          <p:cNvCxnSpPr>
            <a:cxnSpLocks/>
          </p:cNvCxnSpPr>
          <p:nvPr/>
        </p:nvCxnSpPr>
        <p:spPr>
          <a:xfrm flipH="1" flipV="1">
            <a:off x="6322807" y="3097468"/>
            <a:ext cx="535192" cy="93836"/>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39" name="Picture 38">
            <a:extLst>
              <a:ext uri="{FF2B5EF4-FFF2-40B4-BE49-F238E27FC236}">
                <a16:creationId xmlns:a16="http://schemas.microsoft.com/office/drawing/2014/main" id="{DC60B020-1E8B-4D09-8872-D338E9BFF195}"/>
              </a:ext>
            </a:extLst>
          </p:cNvPr>
          <p:cNvPicPr>
            <a:picLocks noChangeAspect="1"/>
          </p:cNvPicPr>
          <p:nvPr/>
        </p:nvPicPr>
        <p:blipFill>
          <a:blip r:embed="rId4"/>
          <a:stretch>
            <a:fillRect/>
          </a:stretch>
        </p:blipFill>
        <p:spPr>
          <a:xfrm>
            <a:off x="5142817" y="5149944"/>
            <a:ext cx="1221277" cy="1410040"/>
          </a:xfrm>
          <a:prstGeom prst="rect">
            <a:avLst/>
          </a:prstGeom>
        </p:spPr>
      </p:pic>
      <p:cxnSp>
        <p:nvCxnSpPr>
          <p:cNvPr id="40" name="Straight Arrow Connector 39">
            <a:extLst>
              <a:ext uri="{FF2B5EF4-FFF2-40B4-BE49-F238E27FC236}">
                <a16:creationId xmlns:a16="http://schemas.microsoft.com/office/drawing/2014/main" id="{BE8EF400-F8F2-474F-95F7-2CE7CF20BCB7}"/>
              </a:ext>
            </a:extLst>
          </p:cNvPr>
          <p:cNvCxnSpPr>
            <a:cxnSpLocks/>
          </p:cNvCxnSpPr>
          <p:nvPr/>
        </p:nvCxnSpPr>
        <p:spPr>
          <a:xfrm flipH="1">
            <a:off x="5314571" y="5341731"/>
            <a:ext cx="1" cy="61049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BB854CAD-5D13-46B9-9D80-85E9AE10C208}"/>
              </a:ext>
            </a:extLst>
          </p:cNvPr>
          <p:cNvSpPr txBox="1"/>
          <p:nvPr/>
        </p:nvSpPr>
        <p:spPr>
          <a:xfrm>
            <a:off x="104709" y="5547869"/>
            <a:ext cx="4673839" cy="1477328"/>
          </a:xfrm>
          <a:prstGeom prst="rect">
            <a:avLst/>
          </a:prstGeom>
          <a:noFill/>
        </p:spPr>
        <p:txBody>
          <a:bodyPr wrap="square" rtlCol="0">
            <a:spAutoFit/>
          </a:bodyPr>
          <a:lstStyle/>
          <a:p>
            <a:r>
              <a:rPr lang="en-US" dirty="0"/>
              <a:t>The OCF for a bar line axis is the mid point of </a:t>
            </a:r>
            <a:r>
              <a:rPr lang="en-GB" dirty="0"/>
              <a:t>the line, with z axis along the </a:t>
            </a:r>
            <a:r>
              <a:rPr lang="en-GB" dirty="0" err="1"/>
              <a:t>longitudal</a:t>
            </a:r>
            <a:r>
              <a:rPr lang="en-GB" dirty="0"/>
              <a:t> axis, and x-y can be set freely with a rotation around the z.</a:t>
            </a:r>
          </a:p>
          <a:p>
            <a:endParaRPr lang="en-US" dirty="0"/>
          </a:p>
        </p:txBody>
      </p:sp>
      <p:pic>
        <p:nvPicPr>
          <p:cNvPr id="48" name="Picture 47">
            <a:extLst>
              <a:ext uri="{FF2B5EF4-FFF2-40B4-BE49-F238E27FC236}">
                <a16:creationId xmlns:a16="http://schemas.microsoft.com/office/drawing/2014/main" id="{AB59B422-D0AC-4DF5-BFED-272D467E810B}"/>
              </a:ext>
            </a:extLst>
          </p:cNvPr>
          <p:cNvPicPr>
            <a:picLocks noChangeAspect="1"/>
          </p:cNvPicPr>
          <p:nvPr/>
        </p:nvPicPr>
        <p:blipFill>
          <a:blip r:embed="rId5"/>
          <a:stretch>
            <a:fillRect/>
          </a:stretch>
        </p:blipFill>
        <p:spPr>
          <a:xfrm>
            <a:off x="169958" y="3681509"/>
            <a:ext cx="1059206" cy="1892591"/>
          </a:xfrm>
          <a:prstGeom prst="rect">
            <a:avLst/>
          </a:prstGeom>
        </p:spPr>
      </p:pic>
      <p:pic>
        <p:nvPicPr>
          <p:cNvPr id="50" name="Picture 49">
            <a:extLst>
              <a:ext uri="{FF2B5EF4-FFF2-40B4-BE49-F238E27FC236}">
                <a16:creationId xmlns:a16="http://schemas.microsoft.com/office/drawing/2014/main" id="{B78D20C5-5F4C-44B3-ADC8-D93593C5474F}"/>
              </a:ext>
            </a:extLst>
          </p:cNvPr>
          <p:cNvPicPr>
            <a:picLocks noChangeAspect="1"/>
          </p:cNvPicPr>
          <p:nvPr/>
        </p:nvPicPr>
        <p:blipFill>
          <a:blip r:embed="rId6"/>
          <a:stretch>
            <a:fillRect/>
          </a:stretch>
        </p:blipFill>
        <p:spPr>
          <a:xfrm>
            <a:off x="431749" y="70852"/>
            <a:ext cx="1081686" cy="2294180"/>
          </a:xfrm>
          <a:prstGeom prst="rect">
            <a:avLst/>
          </a:prstGeom>
        </p:spPr>
      </p:pic>
      <p:pic>
        <p:nvPicPr>
          <p:cNvPr id="52" name="Picture 51">
            <a:extLst>
              <a:ext uri="{FF2B5EF4-FFF2-40B4-BE49-F238E27FC236}">
                <a16:creationId xmlns:a16="http://schemas.microsoft.com/office/drawing/2014/main" id="{DA64D69E-B522-4095-85C8-8B65E03F0BD4}"/>
              </a:ext>
            </a:extLst>
          </p:cNvPr>
          <p:cNvPicPr>
            <a:picLocks noChangeAspect="1"/>
          </p:cNvPicPr>
          <p:nvPr/>
        </p:nvPicPr>
        <p:blipFill>
          <a:blip r:embed="rId7">
            <a:alphaModFix amt="50000"/>
          </a:blip>
          <a:stretch>
            <a:fillRect/>
          </a:stretch>
        </p:blipFill>
        <p:spPr>
          <a:xfrm>
            <a:off x="1552219" y="70852"/>
            <a:ext cx="1778820" cy="1689417"/>
          </a:xfrm>
          <a:prstGeom prst="rect">
            <a:avLst/>
          </a:prstGeom>
        </p:spPr>
      </p:pic>
      <p:sp>
        <p:nvSpPr>
          <p:cNvPr id="53" name="Oval 52">
            <a:extLst>
              <a:ext uri="{FF2B5EF4-FFF2-40B4-BE49-F238E27FC236}">
                <a16:creationId xmlns:a16="http://schemas.microsoft.com/office/drawing/2014/main" id="{2B54FC0A-D0AD-40B1-B404-0473938DA8B6}"/>
              </a:ext>
            </a:extLst>
          </p:cNvPr>
          <p:cNvSpPr/>
          <p:nvPr/>
        </p:nvSpPr>
        <p:spPr>
          <a:xfrm>
            <a:off x="2057402" y="549934"/>
            <a:ext cx="87923" cy="87923"/>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5" name="Straight Connector 54">
            <a:extLst>
              <a:ext uri="{FF2B5EF4-FFF2-40B4-BE49-F238E27FC236}">
                <a16:creationId xmlns:a16="http://schemas.microsoft.com/office/drawing/2014/main" id="{190DBB75-1D4A-4475-A1F6-670143348691}"/>
              </a:ext>
            </a:extLst>
          </p:cNvPr>
          <p:cNvCxnSpPr>
            <a:cxnSpLocks/>
          </p:cNvCxnSpPr>
          <p:nvPr/>
        </p:nvCxnSpPr>
        <p:spPr>
          <a:xfrm>
            <a:off x="2096006" y="-27673"/>
            <a:ext cx="21981" cy="1914139"/>
          </a:xfrm>
          <a:prstGeom prst="line">
            <a:avLst/>
          </a:prstGeom>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39BB9C3E-094B-4EE7-B937-F16917657401}"/>
              </a:ext>
            </a:extLst>
          </p:cNvPr>
          <p:cNvCxnSpPr>
            <a:cxnSpLocks/>
          </p:cNvCxnSpPr>
          <p:nvPr/>
        </p:nvCxnSpPr>
        <p:spPr>
          <a:xfrm flipH="1">
            <a:off x="1675487" y="585967"/>
            <a:ext cx="948757" cy="7928"/>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7960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CB5410-183B-4387-AF0B-57227BE216E3}"/>
              </a:ext>
            </a:extLst>
          </p:cNvPr>
          <p:cNvPicPr>
            <a:picLocks noChangeAspect="1"/>
          </p:cNvPicPr>
          <p:nvPr/>
        </p:nvPicPr>
        <p:blipFill>
          <a:blip r:embed="rId2">
            <a:alphaModFix amt="20000"/>
          </a:blip>
          <a:stretch>
            <a:fillRect/>
          </a:stretch>
        </p:blipFill>
        <p:spPr>
          <a:xfrm>
            <a:off x="4071937" y="500062"/>
            <a:ext cx="4048125" cy="5857875"/>
          </a:xfrm>
          <a:prstGeom prst="rect">
            <a:avLst/>
          </a:prstGeom>
        </p:spPr>
      </p:pic>
      <p:cxnSp>
        <p:nvCxnSpPr>
          <p:cNvPr id="6" name="Straight Connector 5">
            <a:extLst>
              <a:ext uri="{FF2B5EF4-FFF2-40B4-BE49-F238E27FC236}">
                <a16:creationId xmlns:a16="http://schemas.microsoft.com/office/drawing/2014/main" id="{AF37B219-D471-495B-87CB-CA3D8255BBB3}"/>
              </a:ext>
            </a:extLst>
          </p:cNvPr>
          <p:cNvCxnSpPr>
            <a:cxnSpLocks/>
          </p:cNvCxnSpPr>
          <p:nvPr/>
        </p:nvCxnSpPr>
        <p:spPr>
          <a:xfrm flipH="1">
            <a:off x="5129349" y="731519"/>
            <a:ext cx="1166949" cy="53644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0C4F2B4-7D33-4452-8109-66DC857202AD}"/>
              </a:ext>
            </a:extLst>
          </p:cNvPr>
          <p:cNvCxnSpPr>
            <a:cxnSpLocks/>
          </p:cNvCxnSpPr>
          <p:nvPr/>
        </p:nvCxnSpPr>
        <p:spPr>
          <a:xfrm flipH="1">
            <a:off x="3583580" y="3788229"/>
            <a:ext cx="4837609" cy="23077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FCD0182-2B50-4F43-B16D-22303C0747B5}"/>
              </a:ext>
            </a:extLst>
          </p:cNvPr>
          <p:cNvSpPr txBox="1"/>
          <p:nvPr/>
        </p:nvSpPr>
        <p:spPr>
          <a:xfrm>
            <a:off x="191588" y="240939"/>
            <a:ext cx="5704115" cy="1200329"/>
          </a:xfrm>
          <a:prstGeom prst="rect">
            <a:avLst/>
          </a:prstGeom>
          <a:noFill/>
        </p:spPr>
        <p:txBody>
          <a:bodyPr wrap="square" rtlCol="0">
            <a:spAutoFit/>
          </a:bodyPr>
          <a:lstStyle/>
          <a:p>
            <a:r>
              <a:rPr lang="en-US" dirty="0"/>
              <a:t>S1:</a:t>
            </a:r>
          </a:p>
          <a:p>
            <a:r>
              <a:rPr lang="en-GB" dirty="0"/>
              <a:t>Add one new bar (Ln) to be joined with an existing bar (Le)</a:t>
            </a:r>
          </a:p>
          <a:p>
            <a:r>
              <a:rPr lang="en-GB" dirty="0"/>
              <a:t>T2:</a:t>
            </a:r>
          </a:p>
          <a:p>
            <a:r>
              <a:rPr lang="en-GB" dirty="0"/>
              <a:t>Joint placement</a:t>
            </a:r>
          </a:p>
        </p:txBody>
      </p:sp>
      <p:sp>
        <p:nvSpPr>
          <p:cNvPr id="16" name="TextBox 15">
            <a:extLst>
              <a:ext uri="{FF2B5EF4-FFF2-40B4-BE49-F238E27FC236}">
                <a16:creationId xmlns:a16="http://schemas.microsoft.com/office/drawing/2014/main" id="{E3DFD5D6-7B12-4990-B494-BC8BFE34FA09}"/>
              </a:ext>
            </a:extLst>
          </p:cNvPr>
          <p:cNvSpPr txBox="1"/>
          <p:nvPr/>
        </p:nvSpPr>
        <p:spPr>
          <a:xfrm>
            <a:off x="8120062" y="3866606"/>
            <a:ext cx="397866" cy="369332"/>
          </a:xfrm>
          <a:prstGeom prst="rect">
            <a:avLst/>
          </a:prstGeom>
          <a:noFill/>
        </p:spPr>
        <p:txBody>
          <a:bodyPr wrap="none" rtlCol="0">
            <a:spAutoFit/>
          </a:bodyPr>
          <a:lstStyle/>
          <a:p>
            <a:r>
              <a:rPr lang="en-US" dirty="0"/>
              <a:t>Le</a:t>
            </a:r>
            <a:endParaRPr lang="en-GB" dirty="0"/>
          </a:p>
        </p:txBody>
      </p:sp>
      <p:sp>
        <p:nvSpPr>
          <p:cNvPr id="17" name="TextBox 16">
            <a:extLst>
              <a:ext uri="{FF2B5EF4-FFF2-40B4-BE49-F238E27FC236}">
                <a16:creationId xmlns:a16="http://schemas.microsoft.com/office/drawing/2014/main" id="{44AC7900-9311-4C99-9243-4AD91CC7D9B1}"/>
              </a:ext>
            </a:extLst>
          </p:cNvPr>
          <p:cNvSpPr txBox="1"/>
          <p:nvPr/>
        </p:nvSpPr>
        <p:spPr>
          <a:xfrm>
            <a:off x="6296298" y="442674"/>
            <a:ext cx="404278" cy="369332"/>
          </a:xfrm>
          <a:prstGeom prst="rect">
            <a:avLst/>
          </a:prstGeom>
          <a:noFill/>
        </p:spPr>
        <p:txBody>
          <a:bodyPr wrap="none" rtlCol="0">
            <a:spAutoFit/>
          </a:bodyPr>
          <a:lstStyle/>
          <a:p>
            <a:r>
              <a:rPr lang="en-US" dirty="0"/>
              <a:t>Ln</a:t>
            </a:r>
            <a:endParaRPr lang="en-GB" dirty="0"/>
          </a:p>
        </p:txBody>
      </p:sp>
      <p:sp>
        <p:nvSpPr>
          <p:cNvPr id="10" name="TextBox 9">
            <a:extLst>
              <a:ext uri="{FF2B5EF4-FFF2-40B4-BE49-F238E27FC236}">
                <a16:creationId xmlns:a16="http://schemas.microsoft.com/office/drawing/2014/main" id="{44BF12A8-8C83-4D6E-AF5E-1C77044CA3F1}"/>
              </a:ext>
            </a:extLst>
          </p:cNvPr>
          <p:cNvSpPr txBox="1"/>
          <p:nvPr/>
        </p:nvSpPr>
        <p:spPr>
          <a:xfrm>
            <a:off x="232713" y="1696781"/>
            <a:ext cx="3988526" cy="5078313"/>
          </a:xfrm>
          <a:prstGeom prst="rect">
            <a:avLst/>
          </a:prstGeom>
          <a:noFill/>
        </p:spPr>
        <p:txBody>
          <a:bodyPr wrap="square">
            <a:spAutoFit/>
          </a:bodyPr>
          <a:lstStyle/>
          <a:p>
            <a:r>
              <a:rPr lang="en-GB" dirty="0"/>
              <a:t>After S1-T1, we lock the lines Ln and Le, now we optimize 5 </a:t>
            </a:r>
            <a:r>
              <a:rPr lang="en-GB" dirty="0" err="1"/>
              <a:t>dofs</a:t>
            </a:r>
            <a:r>
              <a:rPr lang="en-GB" dirty="0"/>
              <a:t> (purple in the image), so that the kinematics work out.</a:t>
            </a:r>
          </a:p>
          <a:p>
            <a:r>
              <a:rPr lang="en-GB" dirty="0"/>
              <a:t>One way to formulate this is:</a:t>
            </a:r>
          </a:p>
          <a:p>
            <a:r>
              <a:rPr lang="en-GB" dirty="0"/>
              <a:t>We do Forward Kinematics (FK) for female joint and male joint separately, and then ”make things meet” in the middle:</a:t>
            </a:r>
          </a:p>
          <a:p>
            <a:endParaRPr lang="en-GB" dirty="0"/>
          </a:p>
          <a:p>
            <a:r>
              <a:rPr lang="en-GB" dirty="0"/>
              <a:t>Min_{</a:t>
            </a:r>
            <a:r>
              <a:rPr lang="en-GB" dirty="0" err="1"/>
              <a:t>fjp</a:t>
            </a:r>
            <a:r>
              <a:rPr lang="en-GB" dirty="0"/>
              <a:t>, </a:t>
            </a:r>
            <a:r>
              <a:rPr lang="en-GB" dirty="0" err="1"/>
              <a:t>fjr</a:t>
            </a:r>
            <a:r>
              <a:rPr lang="en-GB" dirty="0"/>
              <a:t>, </a:t>
            </a:r>
            <a:r>
              <a:rPr lang="en-GB" dirty="0" err="1"/>
              <a:t>mjp</a:t>
            </a:r>
            <a:r>
              <a:rPr lang="en-GB" dirty="0"/>
              <a:t>, </a:t>
            </a:r>
            <a:r>
              <a:rPr lang="en-GB" dirty="0" err="1"/>
              <a:t>mjr</a:t>
            </a:r>
            <a:r>
              <a:rPr lang="en-GB" dirty="0"/>
              <a:t>, </a:t>
            </a:r>
            <a:r>
              <a:rPr lang="en-GB" dirty="0" err="1"/>
              <a:t>jjr</a:t>
            </a:r>
            <a:r>
              <a:rPr lang="en-GB" dirty="0"/>
              <a:t>} </a:t>
            </a:r>
          </a:p>
          <a:p>
            <a:r>
              <a:rPr lang="en-GB" dirty="0"/>
              <a:t>|| FK(</a:t>
            </a:r>
            <a:r>
              <a:rPr lang="en-GB" dirty="0" err="1"/>
              <a:t>fjp</a:t>
            </a:r>
            <a:r>
              <a:rPr lang="en-GB" dirty="0"/>
              <a:t>, </a:t>
            </a:r>
            <a:r>
              <a:rPr lang="en-GB" dirty="0" err="1"/>
              <a:t>fjr</a:t>
            </a:r>
            <a:r>
              <a:rPr lang="en-GB" dirty="0"/>
              <a:t>, </a:t>
            </a:r>
            <a:r>
              <a:rPr lang="en-GB" dirty="0" err="1"/>
              <a:t>jjr</a:t>
            </a:r>
            <a:r>
              <a:rPr lang="en-GB" dirty="0"/>
              <a:t>) – FK(</a:t>
            </a:r>
            <a:r>
              <a:rPr lang="en-GB" dirty="0" err="1"/>
              <a:t>mjp</a:t>
            </a:r>
            <a:r>
              <a:rPr lang="en-GB" dirty="0"/>
              <a:t>, </a:t>
            </a:r>
            <a:r>
              <a:rPr lang="en-GB" dirty="0" err="1"/>
              <a:t>mjr</a:t>
            </a:r>
            <a:r>
              <a:rPr lang="en-GB" dirty="0"/>
              <a:t>) ||</a:t>
            </a:r>
          </a:p>
          <a:p>
            <a:endParaRPr lang="en-GB" dirty="0"/>
          </a:p>
          <a:p>
            <a:r>
              <a:rPr lang="en-GB" dirty="0"/>
              <a:t>Note that the || - || norm here is to compare two frames that includes both position and orientation. I suggest we do a sum of original L2 distance and vector-vector distance for each pair of </a:t>
            </a:r>
            <a:r>
              <a:rPr lang="en-GB" dirty="0" err="1"/>
              <a:t>x,y,z</a:t>
            </a:r>
            <a:r>
              <a:rPr lang="en-GB" dirty="0"/>
              <a:t> axes.</a:t>
            </a:r>
          </a:p>
        </p:txBody>
      </p:sp>
      <p:sp>
        <p:nvSpPr>
          <p:cNvPr id="11" name="Freeform: Shape 10">
            <a:extLst>
              <a:ext uri="{FF2B5EF4-FFF2-40B4-BE49-F238E27FC236}">
                <a16:creationId xmlns:a16="http://schemas.microsoft.com/office/drawing/2014/main" id="{471A240E-53E0-48ED-8F1E-BF1B80266D9E}"/>
              </a:ext>
            </a:extLst>
          </p:cNvPr>
          <p:cNvSpPr/>
          <p:nvPr/>
        </p:nvSpPr>
        <p:spPr>
          <a:xfrm rot="5170677">
            <a:off x="4349398" y="5236574"/>
            <a:ext cx="528426" cy="525269"/>
          </a:xfrm>
          <a:custGeom>
            <a:avLst/>
            <a:gdLst>
              <a:gd name="connsiteX0" fmla="*/ 112976 w 1027376"/>
              <a:gd name="connsiteY0" fmla="*/ 948906 h 948906"/>
              <a:gd name="connsiteX1" fmla="*/ 69844 w 1027376"/>
              <a:gd name="connsiteY1" fmla="*/ 897147 h 948906"/>
              <a:gd name="connsiteX2" fmla="*/ 9459 w 1027376"/>
              <a:gd name="connsiteY2" fmla="*/ 715993 h 948906"/>
              <a:gd name="connsiteX3" fmla="*/ 35339 w 1027376"/>
              <a:gd name="connsiteY3" fmla="*/ 396815 h 948906"/>
              <a:gd name="connsiteX4" fmla="*/ 95723 w 1027376"/>
              <a:gd name="connsiteY4" fmla="*/ 301925 h 948906"/>
              <a:gd name="connsiteX5" fmla="*/ 328637 w 1027376"/>
              <a:gd name="connsiteY5" fmla="*/ 60385 h 948906"/>
              <a:gd name="connsiteX6" fmla="*/ 630561 w 1027376"/>
              <a:gd name="connsiteY6" fmla="*/ 0 h 948906"/>
              <a:gd name="connsiteX7" fmla="*/ 794463 w 1027376"/>
              <a:gd name="connsiteY7" fmla="*/ 8626 h 948906"/>
              <a:gd name="connsiteX8" fmla="*/ 872101 w 1027376"/>
              <a:gd name="connsiteY8" fmla="*/ 17253 h 948906"/>
              <a:gd name="connsiteX9" fmla="*/ 1027376 w 1027376"/>
              <a:gd name="connsiteY9" fmla="*/ 189781 h 948906"/>
              <a:gd name="connsiteX10" fmla="*/ 1001497 w 1027376"/>
              <a:gd name="connsiteY10" fmla="*/ 560717 h 948906"/>
              <a:gd name="connsiteX11" fmla="*/ 984244 w 1027376"/>
              <a:gd name="connsiteY11" fmla="*/ 603849 h 94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7376" h="948906">
                <a:moveTo>
                  <a:pt x="112976" y="948906"/>
                </a:moveTo>
                <a:cubicBezTo>
                  <a:pt x="98599" y="931653"/>
                  <a:pt x="80751" y="916779"/>
                  <a:pt x="69844" y="897147"/>
                </a:cubicBezTo>
                <a:cubicBezTo>
                  <a:pt x="28367" y="822488"/>
                  <a:pt x="26417" y="792301"/>
                  <a:pt x="9459" y="715993"/>
                </a:cubicBezTo>
                <a:cubicBezTo>
                  <a:pt x="-1506" y="584403"/>
                  <a:pt x="-12430" y="553151"/>
                  <a:pt x="35339" y="396815"/>
                </a:cubicBezTo>
                <a:cubicBezTo>
                  <a:pt x="46295" y="360960"/>
                  <a:pt x="72864" y="331641"/>
                  <a:pt x="95723" y="301925"/>
                </a:cubicBezTo>
                <a:cubicBezTo>
                  <a:pt x="138649" y="246121"/>
                  <a:pt x="267292" y="100576"/>
                  <a:pt x="328637" y="60385"/>
                </a:cubicBezTo>
                <a:cubicBezTo>
                  <a:pt x="434394" y="-8904"/>
                  <a:pt x="507204" y="6168"/>
                  <a:pt x="630561" y="0"/>
                </a:cubicBezTo>
                <a:lnTo>
                  <a:pt x="794463" y="8626"/>
                </a:lnTo>
                <a:cubicBezTo>
                  <a:pt x="820435" y="10481"/>
                  <a:pt x="850291" y="3029"/>
                  <a:pt x="872101" y="17253"/>
                </a:cubicBezTo>
                <a:cubicBezTo>
                  <a:pt x="951972" y="69343"/>
                  <a:pt x="981527" y="121007"/>
                  <a:pt x="1027376" y="189781"/>
                </a:cubicBezTo>
                <a:cubicBezTo>
                  <a:pt x="1018750" y="313426"/>
                  <a:pt x="1014079" y="437411"/>
                  <a:pt x="1001497" y="560717"/>
                </a:cubicBezTo>
                <a:cubicBezTo>
                  <a:pt x="983335" y="738709"/>
                  <a:pt x="984244" y="611133"/>
                  <a:pt x="984244" y="603849"/>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Straight Arrow Connector 11">
            <a:extLst>
              <a:ext uri="{FF2B5EF4-FFF2-40B4-BE49-F238E27FC236}">
                <a16:creationId xmlns:a16="http://schemas.microsoft.com/office/drawing/2014/main" id="{D28BC01A-014C-4FBF-823E-F9D093A13876}"/>
              </a:ext>
            </a:extLst>
          </p:cNvPr>
          <p:cNvCxnSpPr>
            <a:cxnSpLocks/>
          </p:cNvCxnSpPr>
          <p:nvPr/>
        </p:nvCxnSpPr>
        <p:spPr>
          <a:xfrm flipV="1">
            <a:off x="4333948" y="4682702"/>
            <a:ext cx="814912" cy="419646"/>
          </a:xfrm>
          <a:prstGeom prst="straightConnector1">
            <a:avLst/>
          </a:prstGeom>
          <a:ln w="762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6F9E3704-01D6-4101-AF53-B71540549162}"/>
              </a:ext>
            </a:extLst>
          </p:cNvPr>
          <p:cNvSpPr/>
          <p:nvPr/>
        </p:nvSpPr>
        <p:spPr>
          <a:xfrm rot="5170677">
            <a:off x="4966045" y="5683203"/>
            <a:ext cx="528426" cy="525269"/>
          </a:xfrm>
          <a:custGeom>
            <a:avLst/>
            <a:gdLst>
              <a:gd name="connsiteX0" fmla="*/ 112976 w 1027376"/>
              <a:gd name="connsiteY0" fmla="*/ 948906 h 948906"/>
              <a:gd name="connsiteX1" fmla="*/ 69844 w 1027376"/>
              <a:gd name="connsiteY1" fmla="*/ 897147 h 948906"/>
              <a:gd name="connsiteX2" fmla="*/ 9459 w 1027376"/>
              <a:gd name="connsiteY2" fmla="*/ 715993 h 948906"/>
              <a:gd name="connsiteX3" fmla="*/ 35339 w 1027376"/>
              <a:gd name="connsiteY3" fmla="*/ 396815 h 948906"/>
              <a:gd name="connsiteX4" fmla="*/ 95723 w 1027376"/>
              <a:gd name="connsiteY4" fmla="*/ 301925 h 948906"/>
              <a:gd name="connsiteX5" fmla="*/ 328637 w 1027376"/>
              <a:gd name="connsiteY5" fmla="*/ 60385 h 948906"/>
              <a:gd name="connsiteX6" fmla="*/ 630561 w 1027376"/>
              <a:gd name="connsiteY6" fmla="*/ 0 h 948906"/>
              <a:gd name="connsiteX7" fmla="*/ 794463 w 1027376"/>
              <a:gd name="connsiteY7" fmla="*/ 8626 h 948906"/>
              <a:gd name="connsiteX8" fmla="*/ 872101 w 1027376"/>
              <a:gd name="connsiteY8" fmla="*/ 17253 h 948906"/>
              <a:gd name="connsiteX9" fmla="*/ 1027376 w 1027376"/>
              <a:gd name="connsiteY9" fmla="*/ 189781 h 948906"/>
              <a:gd name="connsiteX10" fmla="*/ 1001497 w 1027376"/>
              <a:gd name="connsiteY10" fmla="*/ 560717 h 948906"/>
              <a:gd name="connsiteX11" fmla="*/ 984244 w 1027376"/>
              <a:gd name="connsiteY11" fmla="*/ 603849 h 94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7376" h="948906">
                <a:moveTo>
                  <a:pt x="112976" y="948906"/>
                </a:moveTo>
                <a:cubicBezTo>
                  <a:pt x="98599" y="931653"/>
                  <a:pt x="80751" y="916779"/>
                  <a:pt x="69844" y="897147"/>
                </a:cubicBezTo>
                <a:cubicBezTo>
                  <a:pt x="28367" y="822488"/>
                  <a:pt x="26417" y="792301"/>
                  <a:pt x="9459" y="715993"/>
                </a:cubicBezTo>
                <a:cubicBezTo>
                  <a:pt x="-1506" y="584403"/>
                  <a:pt x="-12430" y="553151"/>
                  <a:pt x="35339" y="396815"/>
                </a:cubicBezTo>
                <a:cubicBezTo>
                  <a:pt x="46295" y="360960"/>
                  <a:pt x="72864" y="331641"/>
                  <a:pt x="95723" y="301925"/>
                </a:cubicBezTo>
                <a:cubicBezTo>
                  <a:pt x="138649" y="246121"/>
                  <a:pt x="267292" y="100576"/>
                  <a:pt x="328637" y="60385"/>
                </a:cubicBezTo>
                <a:cubicBezTo>
                  <a:pt x="434394" y="-8904"/>
                  <a:pt x="507204" y="6168"/>
                  <a:pt x="630561" y="0"/>
                </a:cubicBezTo>
                <a:lnTo>
                  <a:pt x="794463" y="8626"/>
                </a:lnTo>
                <a:cubicBezTo>
                  <a:pt x="820435" y="10481"/>
                  <a:pt x="850291" y="3029"/>
                  <a:pt x="872101" y="17253"/>
                </a:cubicBezTo>
                <a:cubicBezTo>
                  <a:pt x="951972" y="69343"/>
                  <a:pt x="981527" y="121007"/>
                  <a:pt x="1027376" y="189781"/>
                </a:cubicBezTo>
                <a:cubicBezTo>
                  <a:pt x="1018750" y="313426"/>
                  <a:pt x="1014079" y="437411"/>
                  <a:pt x="1001497" y="560717"/>
                </a:cubicBezTo>
                <a:cubicBezTo>
                  <a:pt x="983335" y="738709"/>
                  <a:pt x="984244" y="611133"/>
                  <a:pt x="984244" y="603849"/>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8" name="Straight Arrow Connector 17">
            <a:extLst>
              <a:ext uri="{FF2B5EF4-FFF2-40B4-BE49-F238E27FC236}">
                <a16:creationId xmlns:a16="http://schemas.microsoft.com/office/drawing/2014/main" id="{968F65E3-31AB-43FC-9DA1-989A382973C8}"/>
              </a:ext>
            </a:extLst>
          </p:cNvPr>
          <p:cNvCxnSpPr>
            <a:cxnSpLocks/>
          </p:cNvCxnSpPr>
          <p:nvPr/>
        </p:nvCxnSpPr>
        <p:spPr>
          <a:xfrm flipV="1">
            <a:off x="5622044" y="3962400"/>
            <a:ext cx="273659" cy="967037"/>
          </a:xfrm>
          <a:prstGeom prst="straightConnector1">
            <a:avLst/>
          </a:prstGeom>
          <a:ln w="762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9D9F6265-0BFB-41A9-BD2E-D49280EFA60F}"/>
              </a:ext>
            </a:extLst>
          </p:cNvPr>
          <p:cNvSpPr/>
          <p:nvPr/>
        </p:nvSpPr>
        <p:spPr>
          <a:xfrm rot="5170677">
            <a:off x="5970886" y="4839714"/>
            <a:ext cx="528426" cy="525269"/>
          </a:xfrm>
          <a:custGeom>
            <a:avLst/>
            <a:gdLst>
              <a:gd name="connsiteX0" fmla="*/ 112976 w 1027376"/>
              <a:gd name="connsiteY0" fmla="*/ 948906 h 948906"/>
              <a:gd name="connsiteX1" fmla="*/ 69844 w 1027376"/>
              <a:gd name="connsiteY1" fmla="*/ 897147 h 948906"/>
              <a:gd name="connsiteX2" fmla="*/ 9459 w 1027376"/>
              <a:gd name="connsiteY2" fmla="*/ 715993 h 948906"/>
              <a:gd name="connsiteX3" fmla="*/ 35339 w 1027376"/>
              <a:gd name="connsiteY3" fmla="*/ 396815 h 948906"/>
              <a:gd name="connsiteX4" fmla="*/ 95723 w 1027376"/>
              <a:gd name="connsiteY4" fmla="*/ 301925 h 948906"/>
              <a:gd name="connsiteX5" fmla="*/ 328637 w 1027376"/>
              <a:gd name="connsiteY5" fmla="*/ 60385 h 948906"/>
              <a:gd name="connsiteX6" fmla="*/ 630561 w 1027376"/>
              <a:gd name="connsiteY6" fmla="*/ 0 h 948906"/>
              <a:gd name="connsiteX7" fmla="*/ 794463 w 1027376"/>
              <a:gd name="connsiteY7" fmla="*/ 8626 h 948906"/>
              <a:gd name="connsiteX8" fmla="*/ 872101 w 1027376"/>
              <a:gd name="connsiteY8" fmla="*/ 17253 h 948906"/>
              <a:gd name="connsiteX9" fmla="*/ 1027376 w 1027376"/>
              <a:gd name="connsiteY9" fmla="*/ 189781 h 948906"/>
              <a:gd name="connsiteX10" fmla="*/ 1001497 w 1027376"/>
              <a:gd name="connsiteY10" fmla="*/ 560717 h 948906"/>
              <a:gd name="connsiteX11" fmla="*/ 984244 w 1027376"/>
              <a:gd name="connsiteY11" fmla="*/ 603849 h 94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7376" h="948906">
                <a:moveTo>
                  <a:pt x="112976" y="948906"/>
                </a:moveTo>
                <a:cubicBezTo>
                  <a:pt x="98599" y="931653"/>
                  <a:pt x="80751" y="916779"/>
                  <a:pt x="69844" y="897147"/>
                </a:cubicBezTo>
                <a:cubicBezTo>
                  <a:pt x="28367" y="822488"/>
                  <a:pt x="26417" y="792301"/>
                  <a:pt x="9459" y="715993"/>
                </a:cubicBezTo>
                <a:cubicBezTo>
                  <a:pt x="-1506" y="584403"/>
                  <a:pt x="-12430" y="553151"/>
                  <a:pt x="35339" y="396815"/>
                </a:cubicBezTo>
                <a:cubicBezTo>
                  <a:pt x="46295" y="360960"/>
                  <a:pt x="72864" y="331641"/>
                  <a:pt x="95723" y="301925"/>
                </a:cubicBezTo>
                <a:cubicBezTo>
                  <a:pt x="138649" y="246121"/>
                  <a:pt x="267292" y="100576"/>
                  <a:pt x="328637" y="60385"/>
                </a:cubicBezTo>
                <a:cubicBezTo>
                  <a:pt x="434394" y="-8904"/>
                  <a:pt x="507204" y="6168"/>
                  <a:pt x="630561" y="0"/>
                </a:cubicBezTo>
                <a:lnTo>
                  <a:pt x="794463" y="8626"/>
                </a:lnTo>
                <a:cubicBezTo>
                  <a:pt x="820435" y="10481"/>
                  <a:pt x="850291" y="3029"/>
                  <a:pt x="872101" y="17253"/>
                </a:cubicBezTo>
                <a:cubicBezTo>
                  <a:pt x="951972" y="69343"/>
                  <a:pt x="981527" y="121007"/>
                  <a:pt x="1027376" y="189781"/>
                </a:cubicBezTo>
                <a:cubicBezTo>
                  <a:pt x="1018750" y="313426"/>
                  <a:pt x="1014079" y="437411"/>
                  <a:pt x="1001497" y="560717"/>
                </a:cubicBezTo>
                <a:cubicBezTo>
                  <a:pt x="983335" y="738709"/>
                  <a:pt x="984244" y="611133"/>
                  <a:pt x="984244" y="603849"/>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Straight Arrow Connector 20">
            <a:extLst>
              <a:ext uri="{FF2B5EF4-FFF2-40B4-BE49-F238E27FC236}">
                <a16:creationId xmlns:a16="http://schemas.microsoft.com/office/drawing/2014/main" id="{D4A3CD74-EDF9-4970-ADF4-20189F53FF92}"/>
              </a:ext>
            </a:extLst>
          </p:cNvPr>
          <p:cNvCxnSpPr>
            <a:cxnSpLocks/>
          </p:cNvCxnSpPr>
          <p:nvPr/>
        </p:nvCxnSpPr>
        <p:spPr>
          <a:xfrm flipH="1">
            <a:off x="4943085" y="5065931"/>
            <a:ext cx="1342790" cy="443445"/>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4929B81-9E51-4E1F-AD77-B92742810951}"/>
              </a:ext>
            </a:extLst>
          </p:cNvPr>
          <p:cNvSpPr txBox="1"/>
          <p:nvPr/>
        </p:nvSpPr>
        <p:spPr>
          <a:xfrm>
            <a:off x="5541273" y="5934908"/>
            <a:ext cx="593432" cy="369332"/>
          </a:xfrm>
          <a:prstGeom prst="rect">
            <a:avLst/>
          </a:prstGeom>
          <a:noFill/>
        </p:spPr>
        <p:txBody>
          <a:bodyPr wrap="none" rtlCol="0">
            <a:spAutoFit/>
          </a:bodyPr>
          <a:lstStyle/>
          <a:p>
            <a:r>
              <a:rPr lang="en-US" b="1" dirty="0">
                <a:solidFill>
                  <a:srgbClr val="7030A0"/>
                </a:solidFill>
              </a:rPr>
              <a:t>MJR</a:t>
            </a:r>
            <a:endParaRPr lang="en-GB" b="1" dirty="0">
              <a:solidFill>
                <a:srgbClr val="7030A0"/>
              </a:solidFill>
            </a:endParaRPr>
          </a:p>
        </p:txBody>
      </p:sp>
      <p:sp>
        <p:nvSpPr>
          <p:cNvPr id="23" name="TextBox 22">
            <a:extLst>
              <a:ext uri="{FF2B5EF4-FFF2-40B4-BE49-F238E27FC236}">
                <a16:creationId xmlns:a16="http://schemas.microsoft.com/office/drawing/2014/main" id="{39F3D932-D86B-408C-9E0A-4C7922CA2A8B}"/>
              </a:ext>
            </a:extLst>
          </p:cNvPr>
          <p:cNvSpPr txBox="1"/>
          <p:nvPr/>
        </p:nvSpPr>
        <p:spPr>
          <a:xfrm>
            <a:off x="5917584" y="3895322"/>
            <a:ext cx="587020" cy="369332"/>
          </a:xfrm>
          <a:prstGeom prst="rect">
            <a:avLst/>
          </a:prstGeom>
          <a:noFill/>
        </p:spPr>
        <p:txBody>
          <a:bodyPr wrap="none" rtlCol="0">
            <a:spAutoFit/>
          </a:bodyPr>
          <a:lstStyle/>
          <a:p>
            <a:r>
              <a:rPr lang="en-US" b="1" dirty="0">
                <a:solidFill>
                  <a:srgbClr val="7030A0"/>
                </a:solidFill>
              </a:rPr>
              <a:t>MJP</a:t>
            </a:r>
            <a:endParaRPr lang="en-GB" b="1" dirty="0">
              <a:solidFill>
                <a:srgbClr val="7030A0"/>
              </a:solidFill>
            </a:endParaRPr>
          </a:p>
        </p:txBody>
      </p:sp>
      <p:sp>
        <p:nvSpPr>
          <p:cNvPr id="24" name="TextBox 23">
            <a:extLst>
              <a:ext uri="{FF2B5EF4-FFF2-40B4-BE49-F238E27FC236}">
                <a16:creationId xmlns:a16="http://schemas.microsoft.com/office/drawing/2014/main" id="{806ED5D0-2DA5-4232-AAC2-F3F25E83B52E}"/>
              </a:ext>
            </a:extLst>
          </p:cNvPr>
          <p:cNvSpPr txBox="1"/>
          <p:nvPr/>
        </p:nvSpPr>
        <p:spPr>
          <a:xfrm>
            <a:off x="5541273" y="5934908"/>
            <a:ext cx="587020" cy="369332"/>
          </a:xfrm>
          <a:prstGeom prst="rect">
            <a:avLst/>
          </a:prstGeom>
          <a:noFill/>
        </p:spPr>
        <p:txBody>
          <a:bodyPr wrap="none" rtlCol="0">
            <a:spAutoFit/>
          </a:bodyPr>
          <a:lstStyle/>
          <a:p>
            <a:r>
              <a:rPr lang="en-US" b="1" dirty="0">
                <a:solidFill>
                  <a:srgbClr val="7030A0"/>
                </a:solidFill>
              </a:rPr>
              <a:t>MJP</a:t>
            </a:r>
            <a:endParaRPr lang="en-GB" b="1" dirty="0">
              <a:solidFill>
                <a:srgbClr val="7030A0"/>
              </a:solidFill>
            </a:endParaRPr>
          </a:p>
        </p:txBody>
      </p:sp>
      <p:sp>
        <p:nvSpPr>
          <p:cNvPr id="25" name="TextBox 24">
            <a:extLst>
              <a:ext uri="{FF2B5EF4-FFF2-40B4-BE49-F238E27FC236}">
                <a16:creationId xmlns:a16="http://schemas.microsoft.com/office/drawing/2014/main" id="{30598904-6100-4713-9065-928F680B7C77}"/>
              </a:ext>
            </a:extLst>
          </p:cNvPr>
          <p:cNvSpPr txBox="1"/>
          <p:nvPr/>
        </p:nvSpPr>
        <p:spPr>
          <a:xfrm>
            <a:off x="6570003" y="4942114"/>
            <a:ext cx="468398" cy="369332"/>
          </a:xfrm>
          <a:prstGeom prst="rect">
            <a:avLst/>
          </a:prstGeom>
          <a:noFill/>
        </p:spPr>
        <p:txBody>
          <a:bodyPr wrap="none" rtlCol="0">
            <a:spAutoFit/>
          </a:bodyPr>
          <a:lstStyle/>
          <a:p>
            <a:r>
              <a:rPr lang="en-US" b="1" dirty="0">
                <a:solidFill>
                  <a:srgbClr val="7030A0"/>
                </a:solidFill>
              </a:rPr>
              <a:t>JJR</a:t>
            </a:r>
            <a:endParaRPr lang="en-GB" b="1" dirty="0">
              <a:solidFill>
                <a:srgbClr val="7030A0"/>
              </a:solidFill>
            </a:endParaRPr>
          </a:p>
        </p:txBody>
      </p:sp>
      <p:sp>
        <p:nvSpPr>
          <p:cNvPr id="26" name="TextBox 25">
            <a:extLst>
              <a:ext uri="{FF2B5EF4-FFF2-40B4-BE49-F238E27FC236}">
                <a16:creationId xmlns:a16="http://schemas.microsoft.com/office/drawing/2014/main" id="{3510E6FD-52B3-48B7-826F-4F10A2F859F3}"/>
              </a:ext>
            </a:extLst>
          </p:cNvPr>
          <p:cNvSpPr txBox="1"/>
          <p:nvPr/>
        </p:nvSpPr>
        <p:spPr>
          <a:xfrm>
            <a:off x="4187767" y="4469342"/>
            <a:ext cx="478657" cy="369332"/>
          </a:xfrm>
          <a:prstGeom prst="rect">
            <a:avLst/>
          </a:prstGeom>
          <a:noFill/>
        </p:spPr>
        <p:txBody>
          <a:bodyPr wrap="none" rtlCol="0">
            <a:spAutoFit/>
          </a:bodyPr>
          <a:lstStyle/>
          <a:p>
            <a:r>
              <a:rPr lang="en-US" b="1" dirty="0">
                <a:solidFill>
                  <a:srgbClr val="7030A0"/>
                </a:solidFill>
              </a:rPr>
              <a:t>FJP</a:t>
            </a:r>
            <a:endParaRPr lang="en-GB" b="1" dirty="0">
              <a:solidFill>
                <a:srgbClr val="7030A0"/>
              </a:solidFill>
            </a:endParaRPr>
          </a:p>
        </p:txBody>
      </p:sp>
      <p:sp>
        <p:nvSpPr>
          <p:cNvPr id="27" name="TextBox 26">
            <a:extLst>
              <a:ext uri="{FF2B5EF4-FFF2-40B4-BE49-F238E27FC236}">
                <a16:creationId xmlns:a16="http://schemas.microsoft.com/office/drawing/2014/main" id="{0EC1E3E1-C12F-40C3-9FFE-9447E4BA707D}"/>
              </a:ext>
            </a:extLst>
          </p:cNvPr>
          <p:cNvSpPr txBox="1"/>
          <p:nvPr/>
        </p:nvSpPr>
        <p:spPr>
          <a:xfrm>
            <a:off x="3963614" y="5311446"/>
            <a:ext cx="485069" cy="369332"/>
          </a:xfrm>
          <a:prstGeom prst="rect">
            <a:avLst/>
          </a:prstGeom>
          <a:noFill/>
        </p:spPr>
        <p:txBody>
          <a:bodyPr wrap="none" rtlCol="0">
            <a:spAutoFit/>
          </a:bodyPr>
          <a:lstStyle/>
          <a:p>
            <a:r>
              <a:rPr lang="en-US" b="1" dirty="0">
                <a:solidFill>
                  <a:srgbClr val="7030A0"/>
                </a:solidFill>
              </a:rPr>
              <a:t>FJR</a:t>
            </a:r>
            <a:endParaRPr lang="en-GB" b="1" dirty="0">
              <a:solidFill>
                <a:srgbClr val="7030A0"/>
              </a:solidFill>
            </a:endParaRPr>
          </a:p>
        </p:txBody>
      </p:sp>
    </p:spTree>
    <p:extLst>
      <p:ext uri="{BB962C8B-B14F-4D97-AF65-F5344CB8AC3E}">
        <p14:creationId xmlns:p14="http://schemas.microsoft.com/office/powerpoint/2010/main" val="464019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535FB7-2720-4669-B4B3-76BC4B142548}"/>
              </a:ext>
            </a:extLst>
          </p:cNvPr>
          <p:cNvPicPr>
            <a:picLocks noChangeAspect="1"/>
          </p:cNvPicPr>
          <p:nvPr/>
        </p:nvPicPr>
        <p:blipFill>
          <a:blip r:embed="rId2">
            <a:alphaModFix amt="50000"/>
          </a:blip>
          <a:stretch>
            <a:fillRect/>
          </a:stretch>
        </p:blipFill>
        <p:spPr>
          <a:xfrm>
            <a:off x="7511294" y="285819"/>
            <a:ext cx="4200525" cy="6467475"/>
          </a:xfrm>
          <a:prstGeom prst="rect">
            <a:avLst/>
          </a:prstGeom>
        </p:spPr>
      </p:pic>
      <p:cxnSp>
        <p:nvCxnSpPr>
          <p:cNvPr id="13" name="Straight Connector 12">
            <a:extLst>
              <a:ext uri="{FF2B5EF4-FFF2-40B4-BE49-F238E27FC236}">
                <a16:creationId xmlns:a16="http://schemas.microsoft.com/office/drawing/2014/main" id="{B9A82686-6E4B-4DDD-8771-01D0E97C425D}"/>
              </a:ext>
            </a:extLst>
          </p:cNvPr>
          <p:cNvCxnSpPr>
            <a:cxnSpLocks/>
          </p:cNvCxnSpPr>
          <p:nvPr/>
        </p:nvCxnSpPr>
        <p:spPr>
          <a:xfrm flipH="1">
            <a:off x="9541888" y="203206"/>
            <a:ext cx="69667" cy="42621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0526BBE-67A6-4C5E-98DF-3173B7EED2AD}"/>
              </a:ext>
            </a:extLst>
          </p:cNvPr>
          <p:cNvSpPr txBox="1"/>
          <p:nvPr/>
        </p:nvSpPr>
        <p:spPr>
          <a:xfrm>
            <a:off x="191588" y="240939"/>
            <a:ext cx="5704115" cy="1477328"/>
          </a:xfrm>
          <a:prstGeom prst="rect">
            <a:avLst/>
          </a:prstGeom>
          <a:noFill/>
        </p:spPr>
        <p:txBody>
          <a:bodyPr wrap="square" rtlCol="0">
            <a:spAutoFit/>
          </a:bodyPr>
          <a:lstStyle/>
          <a:p>
            <a:r>
              <a:rPr lang="en-US" dirty="0"/>
              <a:t>S2:</a:t>
            </a:r>
          </a:p>
          <a:p>
            <a:r>
              <a:rPr lang="en-GB" dirty="0"/>
              <a:t>Add one new bar (Ln) to be joined with TWO existing bar (Le1, Le2)</a:t>
            </a:r>
          </a:p>
          <a:p>
            <a:r>
              <a:rPr lang="en-GB" dirty="0"/>
              <a:t>T1:</a:t>
            </a:r>
          </a:p>
          <a:p>
            <a:r>
              <a:rPr lang="en-GB" dirty="0"/>
              <a:t>Bar axis line generation for Ln</a:t>
            </a:r>
          </a:p>
        </p:txBody>
      </p:sp>
      <p:cxnSp>
        <p:nvCxnSpPr>
          <p:cNvPr id="17" name="Straight Connector 16">
            <a:extLst>
              <a:ext uri="{FF2B5EF4-FFF2-40B4-BE49-F238E27FC236}">
                <a16:creationId xmlns:a16="http://schemas.microsoft.com/office/drawing/2014/main" id="{9978DB23-ED9B-4C75-9B87-48E964B9B16C}"/>
              </a:ext>
            </a:extLst>
          </p:cNvPr>
          <p:cNvCxnSpPr>
            <a:cxnSpLocks/>
          </p:cNvCxnSpPr>
          <p:nvPr/>
        </p:nvCxnSpPr>
        <p:spPr>
          <a:xfrm flipH="1">
            <a:off x="7241236" y="3994342"/>
            <a:ext cx="4635806" cy="22851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8CDF3B1-2230-47E9-95F4-7C3AB4370CA3}"/>
              </a:ext>
            </a:extLst>
          </p:cNvPr>
          <p:cNvCxnSpPr>
            <a:cxnSpLocks/>
          </p:cNvCxnSpPr>
          <p:nvPr/>
        </p:nvCxnSpPr>
        <p:spPr>
          <a:xfrm flipH="1">
            <a:off x="8913867" y="855488"/>
            <a:ext cx="1169545" cy="54239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722C5B1-1CBC-4CD8-A9C4-1FAE5A95F775}"/>
              </a:ext>
            </a:extLst>
          </p:cNvPr>
          <p:cNvCxnSpPr>
            <a:cxnSpLocks/>
          </p:cNvCxnSpPr>
          <p:nvPr/>
        </p:nvCxnSpPr>
        <p:spPr>
          <a:xfrm flipV="1">
            <a:off x="9576721" y="1621092"/>
            <a:ext cx="370874" cy="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4CFC134-39D8-4A95-BD88-C7C2DD78CEB2}"/>
              </a:ext>
            </a:extLst>
          </p:cNvPr>
          <p:cNvCxnSpPr>
            <a:cxnSpLocks/>
          </p:cNvCxnSpPr>
          <p:nvPr/>
        </p:nvCxnSpPr>
        <p:spPr>
          <a:xfrm flipV="1">
            <a:off x="8896708" y="5251642"/>
            <a:ext cx="245926" cy="217106"/>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2A7CC4E-0E33-4EB5-B4C0-D1E573C34E3A}"/>
              </a:ext>
            </a:extLst>
          </p:cNvPr>
          <p:cNvSpPr txBox="1"/>
          <p:nvPr/>
        </p:nvSpPr>
        <p:spPr>
          <a:xfrm>
            <a:off x="206349" y="1822043"/>
            <a:ext cx="6884425" cy="3970318"/>
          </a:xfrm>
          <a:prstGeom prst="rect">
            <a:avLst/>
          </a:prstGeom>
          <a:noFill/>
        </p:spPr>
        <p:txBody>
          <a:bodyPr wrap="square">
            <a:spAutoFit/>
          </a:bodyPr>
          <a:lstStyle/>
          <a:p>
            <a:r>
              <a:rPr lang="en-GB" dirty="0"/>
              <a:t>Here the designer inputs four things:</a:t>
            </a:r>
          </a:p>
          <a:p>
            <a:pPr marL="285750" indent="-285750">
              <a:buFontTx/>
              <a:buChar char="-"/>
            </a:pPr>
            <a:r>
              <a:rPr lang="en-GB" dirty="0"/>
              <a:t>Lines Le1 and Le2</a:t>
            </a:r>
          </a:p>
          <a:p>
            <a:pPr marL="285750" indent="-285750">
              <a:buFontTx/>
              <a:buChar char="-"/>
            </a:pPr>
            <a:r>
              <a:rPr lang="en-GB" dirty="0"/>
              <a:t>The anchor point of the “contact </a:t>
            </a:r>
            <a:r>
              <a:rPr lang="en-GB" dirty="0" err="1"/>
              <a:t>normals</a:t>
            </a:r>
            <a:r>
              <a:rPr lang="en-GB" dirty="0"/>
              <a:t>” to Ln</a:t>
            </a:r>
          </a:p>
          <a:p>
            <a:pPr marL="285750" indent="-285750">
              <a:buFontTx/>
              <a:buChar char="-"/>
            </a:pPr>
            <a:endParaRPr lang="en-GB" dirty="0"/>
          </a:p>
          <a:p>
            <a:r>
              <a:rPr lang="en-GB" dirty="0"/>
              <a:t>Here the contact normal are the line </a:t>
            </a:r>
            <a:r>
              <a:rPr lang="en-GB" dirty="0" err="1"/>
              <a:t>sgements</a:t>
            </a:r>
            <a:r>
              <a:rPr lang="en-GB" dirty="0"/>
              <a:t> that forms the shortest distance between Ln and the two lines.</a:t>
            </a:r>
          </a:p>
          <a:p>
            <a:r>
              <a:rPr lang="en-GB" dirty="0"/>
              <a:t>Our goal is to solve for an anchor point </a:t>
            </a:r>
            <a:r>
              <a:rPr lang="en-GB" dirty="0" err="1"/>
              <a:t>xn</a:t>
            </a:r>
            <a:r>
              <a:rPr lang="en-GB" dirty="0"/>
              <a:t> and a direction </a:t>
            </a:r>
            <a:r>
              <a:rPr lang="en-GB" dirty="0" err="1"/>
              <a:t>nn</a:t>
            </a:r>
            <a:r>
              <a:rPr lang="en-GB" dirty="0"/>
              <a:t> to define Ln, such that:</a:t>
            </a:r>
          </a:p>
          <a:p>
            <a:pPr marL="285750" indent="-285750">
              <a:buFont typeface="Arial" panose="020B0604020202020204" pitchFamily="34" charset="0"/>
              <a:buChar char="•"/>
            </a:pPr>
            <a:r>
              <a:rPr lang="en-GB" dirty="0"/>
              <a:t>The shortest segments between Ln-Le1 have one end point to be the given Ce1</a:t>
            </a:r>
          </a:p>
          <a:p>
            <a:pPr marL="285750" indent="-285750">
              <a:buFont typeface="Arial" panose="020B0604020202020204" pitchFamily="34" charset="0"/>
              <a:buChar char="•"/>
            </a:pPr>
            <a:r>
              <a:rPr lang="en-GB" dirty="0"/>
              <a:t>The shortest segments between Ln-Le2 have one end point to be the given Ce2</a:t>
            </a:r>
          </a:p>
          <a:p>
            <a:pPr marL="285750" indent="-285750">
              <a:buFont typeface="Arial" panose="020B0604020202020204" pitchFamily="34" charset="0"/>
              <a:buChar char="•"/>
            </a:pPr>
            <a:r>
              <a:rPr lang="en-GB" dirty="0"/>
              <a:t>These two </a:t>
            </a:r>
            <a:r>
              <a:rPr lang="en-GB" dirty="0" err="1"/>
              <a:t>segements</a:t>
            </a:r>
            <a:r>
              <a:rPr lang="en-GB" dirty="0"/>
              <a:t>’ length equals to a pre-given value D</a:t>
            </a:r>
          </a:p>
          <a:p>
            <a:endParaRPr lang="en-GB" dirty="0"/>
          </a:p>
        </p:txBody>
      </p:sp>
      <p:sp>
        <p:nvSpPr>
          <p:cNvPr id="32" name="TextBox 31">
            <a:extLst>
              <a:ext uri="{FF2B5EF4-FFF2-40B4-BE49-F238E27FC236}">
                <a16:creationId xmlns:a16="http://schemas.microsoft.com/office/drawing/2014/main" id="{5927B678-0731-4CBE-ABE5-39D827402D32}"/>
              </a:ext>
            </a:extLst>
          </p:cNvPr>
          <p:cNvSpPr txBox="1"/>
          <p:nvPr/>
        </p:nvSpPr>
        <p:spPr>
          <a:xfrm>
            <a:off x="10093610" y="759661"/>
            <a:ext cx="404278" cy="369332"/>
          </a:xfrm>
          <a:prstGeom prst="rect">
            <a:avLst/>
          </a:prstGeom>
          <a:noFill/>
        </p:spPr>
        <p:txBody>
          <a:bodyPr wrap="none" rtlCol="0">
            <a:spAutoFit/>
          </a:bodyPr>
          <a:lstStyle/>
          <a:p>
            <a:r>
              <a:rPr lang="en-US" dirty="0"/>
              <a:t>Ln</a:t>
            </a:r>
            <a:endParaRPr lang="en-GB" dirty="0"/>
          </a:p>
        </p:txBody>
      </p:sp>
      <p:sp>
        <p:nvSpPr>
          <p:cNvPr id="33" name="TextBox 32">
            <a:extLst>
              <a:ext uri="{FF2B5EF4-FFF2-40B4-BE49-F238E27FC236}">
                <a16:creationId xmlns:a16="http://schemas.microsoft.com/office/drawing/2014/main" id="{94E8822C-F4B2-494F-8CD3-0884F64A2ED7}"/>
              </a:ext>
            </a:extLst>
          </p:cNvPr>
          <p:cNvSpPr txBox="1"/>
          <p:nvPr/>
        </p:nvSpPr>
        <p:spPr>
          <a:xfrm>
            <a:off x="9581654" y="3943943"/>
            <a:ext cx="514885" cy="369332"/>
          </a:xfrm>
          <a:prstGeom prst="rect">
            <a:avLst/>
          </a:prstGeom>
          <a:noFill/>
        </p:spPr>
        <p:txBody>
          <a:bodyPr wrap="none" rtlCol="0">
            <a:spAutoFit/>
          </a:bodyPr>
          <a:lstStyle/>
          <a:p>
            <a:r>
              <a:rPr lang="en-US" dirty="0"/>
              <a:t>Le1</a:t>
            </a:r>
            <a:endParaRPr lang="en-GB" dirty="0"/>
          </a:p>
        </p:txBody>
      </p:sp>
      <p:sp>
        <p:nvSpPr>
          <p:cNvPr id="34" name="TextBox 33">
            <a:extLst>
              <a:ext uri="{FF2B5EF4-FFF2-40B4-BE49-F238E27FC236}">
                <a16:creationId xmlns:a16="http://schemas.microsoft.com/office/drawing/2014/main" id="{BB07BC94-1F22-467A-AEE0-3D55100E35C3}"/>
              </a:ext>
            </a:extLst>
          </p:cNvPr>
          <p:cNvSpPr txBox="1"/>
          <p:nvPr/>
        </p:nvSpPr>
        <p:spPr>
          <a:xfrm>
            <a:off x="11362157" y="3725420"/>
            <a:ext cx="514885" cy="369332"/>
          </a:xfrm>
          <a:prstGeom prst="rect">
            <a:avLst/>
          </a:prstGeom>
          <a:noFill/>
        </p:spPr>
        <p:txBody>
          <a:bodyPr wrap="none" rtlCol="0">
            <a:spAutoFit/>
          </a:bodyPr>
          <a:lstStyle/>
          <a:p>
            <a:r>
              <a:rPr lang="en-US" dirty="0"/>
              <a:t>Le2</a:t>
            </a:r>
            <a:endParaRPr lang="en-GB" dirty="0"/>
          </a:p>
        </p:txBody>
      </p:sp>
      <p:sp>
        <p:nvSpPr>
          <p:cNvPr id="35" name="Oval 34">
            <a:extLst>
              <a:ext uri="{FF2B5EF4-FFF2-40B4-BE49-F238E27FC236}">
                <a16:creationId xmlns:a16="http://schemas.microsoft.com/office/drawing/2014/main" id="{BEE889AB-40D0-462A-AAA5-30F55909C067}"/>
              </a:ext>
            </a:extLst>
          </p:cNvPr>
          <p:cNvSpPr/>
          <p:nvPr/>
        </p:nvSpPr>
        <p:spPr>
          <a:xfrm>
            <a:off x="9515631" y="1566293"/>
            <a:ext cx="122179" cy="1221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TextBox 35">
            <a:extLst>
              <a:ext uri="{FF2B5EF4-FFF2-40B4-BE49-F238E27FC236}">
                <a16:creationId xmlns:a16="http://schemas.microsoft.com/office/drawing/2014/main" id="{CC350A46-0264-41DD-923A-D76D452EEC7D}"/>
              </a:ext>
            </a:extLst>
          </p:cNvPr>
          <p:cNvSpPr txBox="1"/>
          <p:nvPr/>
        </p:nvSpPr>
        <p:spPr>
          <a:xfrm>
            <a:off x="8961689" y="1452711"/>
            <a:ext cx="540533" cy="369332"/>
          </a:xfrm>
          <a:prstGeom prst="rect">
            <a:avLst/>
          </a:prstGeom>
          <a:noFill/>
        </p:spPr>
        <p:txBody>
          <a:bodyPr wrap="none" rtlCol="0">
            <a:spAutoFit/>
          </a:bodyPr>
          <a:lstStyle/>
          <a:p>
            <a:r>
              <a:rPr lang="en-US" dirty="0"/>
              <a:t>Ce1</a:t>
            </a:r>
            <a:endParaRPr lang="en-GB" dirty="0"/>
          </a:p>
        </p:txBody>
      </p:sp>
      <p:sp>
        <p:nvSpPr>
          <p:cNvPr id="37" name="TextBox 36">
            <a:extLst>
              <a:ext uri="{FF2B5EF4-FFF2-40B4-BE49-F238E27FC236}">
                <a16:creationId xmlns:a16="http://schemas.microsoft.com/office/drawing/2014/main" id="{1140A21F-9ECC-4EF3-AC3A-750842DD78BE}"/>
              </a:ext>
            </a:extLst>
          </p:cNvPr>
          <p:cNvSpPr txBox="1"/>
          <p:nvPr/>
        </p:nvSpPr>
        <p:spPr>
          <a:xfrm>
            <a:off x="8238305" y="5124284"/>
            <a:ext cx="540533" cy="369332"/>
          </a:xfrm>
          <a:prstGeom prst="rect">
            <a:avLst/>
          </a:prstGeom>
          <a:noFill/>
        </p:spPr>
        <p:txBody>
          <a:bodyPr wrap="none" rtlCol="0">
            <a:spAutoFit/>
          </a:bodyPr>
          <a:lstStyle/>
          <a:p>
            <a:r>
              <a:rPr lang="en-US" dirty="0"/>
              <a:t>Ce2</a:t>
            </a:r>
            <a:endParaRPr lang="en-GB" dirty="0"/>
          </a:p>
        </p:txBody>
      </p:sp>
      <p:sp>
        <p:nvSpPr>
          <p:cNvPr id="38" name="Oval 37">
            <a:extLst>
              <a:ext uri="{FF2B5EF4-FFF2-40B4-BE49-F238E27FC236}">
                <a16:creationId xmlns:a16="http://schemas.microsoft.com/office/drawing/2014/main" id="{1BBCF25B-02B5-4D17-A5C4-C298F3CD2B5C}"/>
              </a:ext>
            </a:extLst>
          </p:cNvPr>
          <p:cNvSpPr/>
          <p:nvPr/>
        </p:nvSpPr>
        <p:spPr>
          <a:xfrm>
            <a:off x="8842579" y="5429182"/>
            <a:ext cx="122179" cy="1221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a:extLst>
              <a:ext uri="{FF2B5EF4-FFF2-40B4-BE49-F238E27FC236}">
                <a16:creationId xmlns:a16="http://schemas.microsoft.com/office/drawing/2014/main" id="{E6213ED8-CEA4-4C0B-8602-3729454443CD}"/>
              </a:ext>
            </a:extLst>
          </p:cNvPr>
          <p:cNvSpPr/>
          <p:nvPr/>
        </p:nvSpPr>
        <p:spPr>
          <a:xfrm>
            <a:off x="9846778" y="1576287"/>
            <a:ext cx="122179" cy="12217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TextBox 41">
            <a:extLst>
              <a:ext uri="{FF2B5EF4-FFF2-40B4-BE49-F238E27FC236}">
                <a16:creationId xmlns:a16="http://schemas.microsoft.com/office/drawing/2014/main" id="{CCC4B2D3-0D75-4503-AAF7-9A1F297BF52E}"/>
              </a:ext>
            </a:extLst>
          </p:cNvPr>
          <p:cNvSpPr txBox="1"/>
          <p:nvPr/>
        </p:nvSpPr>
        <p:spPr>
          <a:xfrm>
            <a:off x="9990870" y="1481465"/>
            <a:ext cx="420308" cy="369332"/>
          </a:xfrm>
          <a:prstGeom prst="rect">
            <a:avLst/>
          </a:prstGeom>
          <a:noFill/>
        </p:spPr>
        <p:txBody>
          <a:bodyPr wrap="none" rtlCol="0">
            <a:spAutoFit/>
          </a:bodyPr>
          <a:lstStyle/>
          <a:p>
            <a:r>
              <a:rPr lang="en-US" dirty="0"/>
              <a:t>P1</a:t>
            </a:r>
            <a:endParaRPr lang="en-GB" dirty="0"/>
          </a:p>
        </p:txBody>
      </p:sp>
      <p:sp>
        <p:nvSpPr>
          <p:cNvPr id="43" name="Oval 42">
            <a:extLst>
              <a:ext uri="{FF2B5EF4-FFF2-40B4-BE49-F238E27FC236}">
                <a16:creationId xmlns:a16="http://schemas.microsoft.com/office/drawing/2014/main" id="{AD6A3C40-1065-464A-958F-77ADCE6790D7}"/>
              </a:ext>
            </a:extLst>
          </p:cNvPr>
          <p:cNvSpPr/>
          <p:nvPr/>
        </p:nvSpPr>
        <p:spPr>
          <a:xfrm>
            <a:off x="9090724" y="5206520"/>
            <a:ext cx="122179" cy="12217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a:extLst>
              <a:ext uri="{FF2B5EF4-FFF2-40B4-BE49-F238E27FC236}">
                <a16:creationId xmlns:a16="http://schemas.microsoft.com/office/drawing/2014/main" id="{5633A42C-0669-4265-A475-9DBEA832D57D}"/>
              </a:ext>
            </a:extLst>
          </p:cNvPr>
          <p:cNvSpPr txBox="1"/>
          <p:nvPr/>
        </p:nvSpPr>
        <p:spPr>
          <a:xfrm>
            <a:off x="9234816" y="5111698"/>
            <a:ext cx="420308" cy="369332"/>
          </a:xfrm>
          <a:prstGeom prst="rect">
            <a:avLst/>
          </a:prstGeom>
          <a:noFill/>
        </p:spPr>
        <p:txBody>
          <a:bodyPr wrap="none" rtlCol="0">
            <a:spAutoFit/>
          </a:bodyPr>
          <a:lstStyle/>
          <a:p>
            <a:r>
              <a:rPr lang="en-US" dirty="0"/>
              <a:t>P2</a:t>
            </a:r>
            <a:endParaRPr lang="en-GB" dirty="0"/>
          </a:p>
        </p:txBody>
      </p:sp>
    </p:spTree>
    <p:extLst>
      <p:ext uri="{BB962C8B-B14F-4D97-AF65-F5344CB8AC3E}">
        <p14:creationId xmlns:p14="http://schemas.microsoft.com/office/powerpoint/2010/main" val="91100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535FB7-2720-4669-B4B3-76BC4B142548}"/>
              </a:ext>
            </a:extLst>
          </p:cNvPr>
          <p:cNvPicPr>
            <a:picLocks noChangeAspect="1"/>
          </p:cNvPicPr>
          <p:nvPr/>
        </p:nvPicPr>
        <p:blipFill>
          <a:blip r:embed="rId2">
            <a:alphaModFix amt="50000"/>
          </a:blip>
          <a:stretch>
            <a:fillRect/>
          </a:stretch>
        </p:blipFill>
        <p:spPr>
          <a:xfrm>
            <a:off x="7511294" y="285819"/>
            <a:ext cx="4200525" cy="6467475"/>
          </a:xfrm>
          <a:prstGeom prst="rect">
            <a:avLst/>
          </a:prstGeom>
        </p:spPr>
      </p:pic>
      <p:cxnSp>
        <p:nvCxnSpPr>
          <p:cNvPr id="13" name="Straight Connector 12">
            <a:extLst>
              <a:ext uri="{FF2B5EF4-FFF2-40B4-BE49-F238E27FC236}">
                <a16:creationId xmlns:a16="http://schemas.microsoft.com/office/drawing/2014/main" id="{B9A82686-6E4B-4DDD-8771-01D0E97C425D}"/>
              </a:ext>
            </a:extLst>
          </p:cNvPr>
          <p:cNvCxnSpPr>
            <a:cxnSpLocks/>
          </p:cNvCxnSpPr>
          <p:nvPr/>
        </p:nvCxnSpPr>
        <p:spPr>
          <a:xfrm flipH="1">
            <a:off x="9541888" y="203206"/>
            <a:ext cx="69667" cy="42621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0526BBE-67A6-4C5E-98DF-3173B7EED2AD}"/>
              </a:ext>
            </a:extLst>
          </p:cNvPr>
          <p:cNvSpPr txBox="1"/>
          <p:nvPr/>
        </p:nvSpPr>
        <p:spPr>
          <a:xfrm>
            <a:off x="191588" y="240939"/>
            <a:ext cx="5704115" cy="1754326"/>
          </a:xfrm>
          <a:prstGeom prst="rect">
            <a:avLst/>
          </a:prstGeom>
          <a:noFill/>
        </p:spPr>
        <p:txBody>
          <a:bodyPr wrap="square" rtlCol="0">
            <a:spAutoFit/>
          </a:bodyPr>
          <a:lstStyle/>
          <a:p>
            <a:r>
              <a:rPr lang="en-US" dirty="0"/>
              <a:t>S2:</a:t>
            </a:r>
          </a:p>
          <a:p>
            <a:r>
              <a:rPr lang="en-GB" dirty="0"/>
              <a:t>Add one new bar (Ln) to be joined with TWO existing bar (Le1, Le2)</a:t>
            </a:r>
          </a:p>
          <a:p>
            <a:r>
              <a:rPr lang="en-GB" dirty="0"/>
              <a:t>T1:</a:t>
            </a:r>
          </a:p>
          <a:p>
            <a:r>
              <a:rPr lang="en-GB" dirty="0"/>
              <a:t>Bar axis line generation for Ln</a:t>
            </a:r>
          </a:p>
          <a:p>
            <a:r>
              <a:rPr lang="en-GB" b="1" dirty="0"/>
              <a:t>CONTINUED</a:t>
            </a:r>
          </a:p>
        </p:txBody>
      </p:sp>
      <p:cxnSp>
        <p:nvCxnSpPr>
          <p:cNvPr id="17" name="Straight Connector 16">
            <a:extLst>
              <a:ext uri="{FF2B5EF4-FFF2-40B4-BE49-F238E27FC236}">
                <a16:creationId xmlns:a16="http://schemas.microsoft.com/office/drawing/2014/main" id="{9978DB23-ED9B-4C75-9B87-48E964B9B16C}"/>
              </a:ext>
            </a:extLst>
          </p:cNvPr>
          <p:cNvCxnSpPr>
            <a:cxnSpLocks/>
          </p:cNvCxnSpPr>
          <p:nvPr/>
        </p:nvCxnSpPr>
        <p:spPr>
          <a:xfrm flipH="1">
            <a:off x="7241236" y="3994342"/>
            <a:ext cx="4635806" cy="22851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8CDF3B1-2230-47E9-95F4-7C3AB4370CA3}"/>
              </a:ext>
            </a:extLst>
          </p:cNvPr>
          <p:cNvCxnSpPr>
            <a:cxnSpLocks/>
          </p:cNvCxnSpPr>
          <p:nvPr/>
        </p:nvCxnSpPr>
        <p:spPr>
          <a:xfrm flipH="1">
            <a:off x="8913867" y="855488"/>
            <a:ext cx="1169545" cy="54239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722C5B1-1CBC-4CD8-A9C4-1FAE5A95F775}"/>
              </a:ext>
            </a:extLst>
          </p:cNvPr>
          <p:cNvCxnSpPr>
            <a:cxnSpLocks/>
          </p:cNvCxnSpPr>
          <p:nvPr/>
        </p:nvCxnSpPr>
        <p:spPr>
          <a:xfrm flipV="1">
            <a:off x="9576721" y="1621092"/>
            <a:ext cx="370874" cy="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4CFC134-39D8-4A95-BD88-C7C2DD78CEB2}"/>
              </a:ext>
            </a:extLst>
          </p:cNvPr>
          <p:cNvCxnSpPr>
            <a:cxnSpLocks/>
          </p:cNvCxnSpPr>
          <p:nvPr/>
        </p:nvCxnSpPr>
        <p:spPr>
          <a:xfrm flipV="1">
            <a:off x="8896708" y="5251642"/>
            <a:ext cx="245926" cy="217106"/>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927B678-0731-4CBE-ABE5-39D827402D32}"/>
              </a:ext>
            </a:extLst>
          </p:cNvPr>
          <p:cNvSpPr txBox="1"/>
          <p:nvPr/>
        </p:nvSpPr>
        <p:spPr>
          <a:xfrm>
            <a:off x="10093610" y="759661"/>
            <a:ext cx="404278" cy="369332"/>
          </a:xfrm>
          <a:prstGeom prst="rect">
            <a:avLst/>
          </a:prstGeom>
          <a:noFill/>
        </p:spPr>
        <p:txBody>
          <a:bodyPr wrap="none" rtlCol="0">
            <a:spAutoFit/>
          </a:bodyPr>
          <a:lstStyle/>
          <a:p>
            <a:r>
              <a:rPr lang="en-US" dirty="0"/>
              <a:t>Ln</a:t>
            </a:r>
            <a:endParaRPr lang="en-GB" dirty="0"/>
          </a:p>
        </p:txBody>
      </p:sp>
      <p:sp>
        <p:nvSpPr>
          <p:cNvPr id="33" name="TextBox 32">
            <a:extLst>
              <a:ext uri="{FF2B5EF4-FFF2-40B4-BE49-F238E27FC236}">
                <a16:creationId xmlns:a16="http://schemas.microsoft.com/office/drawing/2014/main" id="{94E8822C-F4B2-494F-8CD3-0884F64A2ED7}"/>
              </a:ext>
            </a:extLst>
          </p:cNvPr>
          <p:cNvSpPr txBox="1"/>
          <p:nvPr/>
        </p:nvSpPr>
        <p:spPr>
          <a:xfrm>
            <a:off x="9581654" y="3943943"/>
            <a:ext cx="514885" cy="369332"/>
          </a:xfrm>
          <a:prstGeom prst="rect">
            <a:avLst/>
          </a:prstGeom>
          <a:noFill/>
        </p:spPr>
        <p:txBody>
          <a:bodyPr wrap="none" rtlCol="0">
            <a:spAutoFit/>
          </a:bodyPr>
          <a:lstStyle/>
          <a:p>
            <a:r>
              <a:rPr lang="en-US" dirty="0"/>
              <a:t>Le1</a:t>
            </a:r>
            <a:endParaRPr lang="en-GB" dirty="0"/>
          </a:p>
        </p:txBody>
      </p:sp>
      <p:sp>
        <p:nvSpPr>
          <p:cNvPr id="34" name="TextBox 33">
            <a:extLst>
              <a:ext uri="{FF2B5EF4-FFF2-40B4-BE49-F238E27FC236}">
                <a16:creationId xmlns:a16="http://schemas.microsoft.com/office/drawing/2014/main" id="{BB07BC94-1F22-467A-AEE0-3D55100E35C3}"/>
              </a:ext>
            </a:extLst>
          </p:cNvPr>
          <p:cNvSpPr txBox="1"/>
          <p:nvPr/>
        </p:nvSpPr>
        <p:spPr>
          <a:xfrm>
            <a:off x="11362157" y="3725420"/>
            <a:ext cx="514885" cy="369332"/>
          </a:xfrm>
          <a:prstGeom prst="rect">
            <a:avLst/>
          </a:prstGeom>
          <a:noFill/>
        </p:spPr>
        <p:txBody>
          <a:bodyPr wrap="none" rtlCol="0">
            <a:spAutoFit/>
          </a:bodyPr>
          <a:lstStyle/>
          <a:p>
            <a:r>
              <a:rPr lang="en-US" dirty="0"/>
              <a:t>Le2</a:t>
            </a:r>
            <a:endParaRPr lang="en-GB" dirty="0"/>
          </a:p>
        </p:txBody>
      </p:sp>
      <p:sp>
        <p:nvSpPr>
          <p:cNvPr id="35" name="Oval 34">
            <a:extLst>
              <a:ext uri="{FF2B5EF4-FFF2-40B4-BE49-F238E27FC236}">
                <a16:creationId xmlns:a16="http://schemas.microsoft.com/office/drawing/2014/main" id="{BEE889AB-40D0-462A-AAA5-30F55909C067}"/>
              </a:ext>
            </a:extLst>
          </p:cNvPr>
          <p:cNvSpPr/>
          <p:nvPr/>
        </p:nvSpPr>
        <p:spPr>
          <a:xfrm>
            <a:off x="9515631" y="1566293"/>
            <a:ext cx="122179" cy="1221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TextBox 35">
            <a:extLst>
              <a:ext uri="{FF2B5EF4-FFF2-40B4-BE49-F238E27FC236}">
                <a16:creationId xmlns:a16="http://schemas.microsoft.com/office/drawing/2014/main" id="{CC350A46-0264-41DD-923A-D76D452EEC7D}"/>
              </a:ext>
            </a:extLst>
          </p:cNvPr>
          <p:cNvSpPr txBox="1"/>
          <p:nvPr/>
        </p:nvSpPr>
        <p:spPr>
          <a:xfrm>
            <a:off x="8961689" y="1452711"/>
            <a:ext cx="540533" cy="369332"/>
          </a:xfrm>
          <a:prstGeom prst="rect">
            <a:avLst/>
          </a:prstGeom>
          <a:noFill/>
        </p:spPr>
        <p:txBody>
          <a:bodyPr wrap="none" rtlCol="0">
            <a:spAutoFit/>
          </a:bodyPr>
          <a:lstStyle/>
          <a:p>
            <a:r>
              <a:rPr lang="en-US" dirty="0"/>
              <a:t>Ce1</a:t>
            </a:r>
            <a:endParaRPr lang="en-GB" dirty="0"/>
          </a:p>
        </p:txBody>
      </p:sp>
      <p:sp>
        <p:nvSpPr>
          <p:cNvPr id="37" name="TextBox 36">
            <a:extLst>
              <a:ext uri="{FF2B5EF4-FFF2-40B4-BE49-F238E27FC236}">
                <a16:creationId xmlns:a16="http://schemas.microsoft.com/office/drawing/2014/main" id="{1140A21F-9ECC-4EF3-AC3A-750842DD78BE}"/>
              </a:ext>
            </a:extLst>
          </p:cNvPr>
          <p:cNvSpPr txBox="1"/>
          <p:nvPr/>
        </p:nvSpPr>
        <p:spPr>
          <a:xfrm>
            <a:off x="8238305" y="5124284"/>
            <a:ext cx="540533" cy="369332"/>
          </a:xfrm>
          <a:prstGeom prst="rect">
            <a:avLst/>
          </a:prstGeom>
          <a:noFill/>
        </p:spPr>
        <p:txBody>
          <a:bodyPr wrap="none" rtlCol="0">
            <a:spAutoFit/>
          </a:bodyPr>
          <a:lstStyle/>
          <a:p>
            <a:r>
              <a:rPr lang="en-US" dirty="0"/>
              <a:t>Ce2</a:t>
            </a:r>
            <a:endParaRPr lang="en-GB" dirty="0"/>
          </a:p>
        </p:txBody>
      </p:sp>
      <p:sp>
        <p:nvSpPr>
          <p:cNvPr id="38" name="Oval 37">
            <a:extLst>
              <a:ext uri="{FF2B5EF4-FFF2-40B4-BE49-F238E27FC236}">
                <a16:creationId xmlns:a16="http://schemas.microsoft.com/office/drawing/2014/main" id="{1BBCF25B-02B5-4D17-A5C4-C298F3CD2B5C}"/>
              </a:ext>
            </a:extLst>
          </p:cNvPr>
          <p:cNvSpPr/>
          <p:nvPr/>
        </p:nvSpPr>
        <p:spPr>
          <a:xfrm>
            <a:off x="8842579" y="5429182"/>
            <a:ext cx="122179" cy="1221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 name="Picture 39">
            <a:extLst>
              <a:ext uri="{FF2B5EF4-FFF2-40B4-BE49-F238E27FC236}">
                <a16:creationId xmlns:a16="http://schemas.microsoft.com/office/drawing/2014/main" id="{2C428DBD-EF6F-4988-A6BD-DA216D2383C6}"/>
              </a:ext>
            </a:extLst>
          </p:cNvPr>
          <p:cNvPicPr>
            <a:picLocks noChangeAspect="1"/>
          </p:cNvPicPr>
          <p:nvPr/>
        </p:nvPicPr>
        <p:blipFill>
          <a:blip r:embed="rId3"/>
          <a:stretch>
            <a:fillRect/>
          </a:stretch>
        </p:blipFill>
        <p:spPr>
          <a:xfrm>
            <a:off x="269260" y="3971838"/>
            <a:ext cx="4385569" cy="1135401"/>
          </a:xfrm>
          <a:prstGeom prst="rect">
            <a:avLst/>
          </a:prstGeom>
        </p:spPr>
      </p:pic>
      <p:sp>
        <p:nvSpPr>
          <p:cNvPr id="41" name="Oval 40">
            <a:extLst>
              <a:ext uri="{FF2B5EF4-FFF2-40B4-BE49-F238E27FC236}">
                <a16:creationId xmlns:a16="http://schemas.microsoft.com/office/drawing/2014/main" id="{E6213ED8-CEA4-4C0B-8602-3729454443CD}"/>
              </a:ext>
            </a:extLst>
          </p:cNvPr>
          <p:cNvSpPr/>
          <p:nvPr/>
        </p:nvSpPr>
        <p:spPr>
          <a:xfrm>
            <a:off x="9846778" y="1576287"/>
            <a:ext cx="122179" cy="12217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TextBox 41">
            <a:extLst>
              <a:ext uri="{FF2B5EF4-FFF2-40B4-BE49-F238E27FC236}">
                <a16:creationId xmlns:a16="http://schemas.microsoft.com/office/drawing/2014/main" id="{CCC4B2D3-0D75-4503-AAF7-9A1F297BF52E}"/>
              </a:ext>
            </a:extLst>
          </p:cNvPr>
          <p:cNvSpPr txBox="1"/>
          <p:nvPr/>
        </p:nvSpPr>
        <p:spPr>
          <a:xfrm>
            <a:off x="9990870" y="1481465"/>
            <a:ext cx="420308" cy="369332"/>
          </a:xfrm>
          <a:prstGeom prst="rect">
            <a:avLst/>
          </a:prstGeom>
          <a:noFill/>
        </p:spPr>
        <p:txBody>
          <a:bodyPr wrap="none" rtlCol="0">
            <a:spAutoFit/>
          </a:bodyPr>
          <a:lstStyle/>
          <a:p>
            <a:r>
              <a:rPr lang="en-US" dirty="0"/>
              <a:t>P1</a:t>
            </a:r>
            <a:endParaRPr lang="en-GB" dirty="0"/>
          </a:p>
        </p:txBody>
      </p:sp>
      <p:sp>
        <p:nvSpPr>
          <p:cNvPr id="43" name="Oval 42">
            <a:extLst>
              <a:ext uri="{FF2B5EF4-FFF2-40B4-BE49-F238E27FC236}">
                <a16:creationId xmlns:a16="http://schemas.microsoft.com/office/drawing/2014/main" id="{AD6A3C40-1065-464A-958F-77ADCE6790D7}"/>
              </a:ext>
            </a:extLst>
          </p:cNvPr>
          <p:cNvSpPr/>
          <p:nvPr/>
        </p:nvSpPr>
        <p:spPr>
          <a:xfrm>
            <a:off x="9090724" y="5206520"/>
            <a:ext cx="122179" cy="12217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a:extLst>
              <a:ext uri="{FF2B5EF4-FFF2-40B4-BE49-F238E27FC236}">
                <a16:creationId xmlns:a16="http://schemas.microsoft.com/office/drawing/2014/main" id="{5633A42C-0669-4265-A475-9DBEA832D57D}"/>
              </a:ext>
            </a:extLst>
          </p:cNvPr>
          <p:cNvSpPr txBox="1"/>
          <p:nvPr/>
        </p:nvSpPr>
        <p:spPr>
          <a:xfrm>
            <a:off x="9234816" y="5111698"/>
            <a:ext cx="420308" cy="369332"/>
          </a:xfrm>
          <a:prstGeom prst="rect">
            <a:avLst/>
          </a:prstGeom>
          <a:noFill/>
        </p:spPr>
        <p:txBody>
          <a:bodyPr wrap="none" rtlCol="0">
            <a:spAutoFit/>
          </a:bodyPr>
          <a:lstStyle/>
          <a:p>
            <a:r>
              <a:rPr lang="en-US" dirty="0"/>
              <a:t>P2</a:t>
            </a:r>
            <a:endParaRPr lang="en-GB" dirty="0"/>
          </a:p>
        </p:txBody>
      </p:sp>
      <p:pic>
        <p:nvPicPr>
          <p:cNvPr id="1026" name="Picture 2">
            <a:extLst>
              <a:ext uri="{FF2B5EF4-FFF2-40B4-BE49-F238E27FC236}">
                <a16:creationId xmlns:a16="http://schemas.microsoft.com/office/drawing/2014/main" id="{B2A36F90-D3C8-4CE8-B743-535ABB2EF8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6495" y="5095130"/>
            <a:ext cx="2009534" cy="173371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8B2B4519-5F86-48BE-89F2-E165ACAE4D80}"/>
              </a:ext>
            </a:extLst>
          </p:cNvPr>
          <p:cNvPicPr>
            <a:picLocks noChangeAspect="1"/>
          </p:cNvPicPr>
          <p:nvPr/>
        </p:nvPicPr>
        <p:blipFill rotWithShape="1">
          <a:blip r:embed="rId5"/>
          <a:srcRect t="30733"/>
          <a:stretch/>
        </p:blipFill>
        <p:spPr>
          <a:xfrm>
            <a:off x="269260" y="5129695"/>
            <a:ext cx="3953168" cy="1647180"/>
          </a:xfrm>
          <a:prstGeom prst="rect">
            <a:avLst/>
          </a:prstGeom>
        </p:spPr>
      </p:pic>
      <p:sp>
        <p:nvSpPr>
          <p:cNvPr id="28" name="TextBox 27">
            <a:extLst>
              <a:ext uri="{FF2B5EF4-FFF2-40B4-BE49-F238E27FC236}">
                <a16:creationId xmlns:a16="http://schemas.microsoft.com/office/drawing/2014/main" id="{E5CCAB93-3E26-4F24-9EBB-5B9D8FA9E3E5}"/>
              </a:ext>
            </a:extLst>
          </p:cNvPr>
          <p:cNvSpPr txBox="1"/>
          <p:nvPr/>
        </p:nvSpPr>
        <p:spPr>
          <a:xfrm>
            <a:off x="337441" y="1995265"/>
            <a:ext cx="7147598" cy="2031325"/>
          </a:xfrm>
          <a:prstGeom prst="rect">
            <a:avLst/>
          </a:prstGeom>
          <a:noFill/>
        </p:spPr>
        <p:txBody>
          <a:bodyPr wrap="square">
            <a:spAutoFit/>
          </a:bodyPr>
          <a:lstStyle/>
          <a:p>
            <a:r>
              <a:rPr lang="en-US" dirty="0"/>
              <a:t>I am not very sure how we would formulate the optimization problem in the previous page, but I think the following </a:t>
            </a:r>
            <a:r>
              <a:rPr lang="en-US" dirty="0" err="1"/>
              <a:t>equaitons</a:t>
            </a:r>
            <a:r>
              <a:rPr lang="en-US" dirty="0"/>
              <a:t> will help, one gives us the </a:t>
            </a:r>
            <a:r>
              <a:rPr lang="en-US" dirty="0" err="1"/>
              <a:t>anlayitcal</a:t>
            </a:r>
            <a:r>
              <a:rPr lang="en-US" dirty="0"/>
              <a:t> expression of the shortest distance between two lines, and the second helps us to find the exact location of the contact point.</a:t>
            </a:r>
          </a:p>
          <a:p>
            <a:r>
              <a:rPr lang="en-US" dirty="0"/>
              <a:t>If possible, I would prefer a analytical solution, but otherwise some optimization formulation that uses </a:t>
            </a:r>
            <a:r>
              <a:rPr lang="en-US" dirty="0" err="1"/>
              <a:t>scipy</a:t>
            </a:r>
            <a:r>
              <a:rPr lang="en-US" dirty="0"/>
              <a:t> (not these paid optimizer like </a:t>
            </a:r>
            <a:r>
              <a:rPr lang="en-US" dirty="0" err="1"/>
              <a:t>knitro</a:t>
            </a:r>
            <a:r>
              <a:rPr lang="en-US" dirty="0"/>
              <a:t> or </a:t>
            </a:r>
            <a:r>
              <a:rPr lang="en-US" dirty="0" err="1"/>
              <a:t>gubori</a:t>
            </a:r>
            <a:r>
              <a:rPr lang="en-US" dirty="0"/>
              <a:t>) also works for me.</a:t>
            </a:r>
            <a:endParaRPr lang="en-GB" dirty="0"/>
          </a:p>
        </p:txBody>
      </p:sp>
    </p:spTree>
    <p:extLst>
      <p:ext uri="{BB962C8B-B14F-4D97-AF65-F5344CB8AC3E}">
        <p14:creationId xmlns:p14="http://schemas.microsoft.com/office/powerpoint/2010/main" val="1791802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535FB7-2720-4669-B4B3-76BC4B142548}"/>
              </a:ext>
            </a:extLst>
          </p:cNvPr>
          <p:cNvPicPr>
            <a:picLocks noChangeAspect="1"/>
          </p:cNvPicPr>
          <p:nvPr/>
        </p:nvPicPr>
        <p:blipFill>
          <a:blip r:embed="rId2">
            <a:alphaModFix amt="50000"/>
          </a:blip>
          <a:stretch>
            <a:fillRect/>
          </a:stretch>
        </p:blipFill>
        <p:spPr>
          <a:xfrm>
            <a:off x="6533838" y="195262"/>
            <a:ext cx="4200525" cy="6467475"/>
          </a:xfrm>
          <a:prstGeom prst="rect">
            <a:avLst/>
          </a:prstGeom>
        </p:spPr>
      </p:pic>
      <p:sp>
        <p:nvSpPr>
          <p:cNvPr id="16" name="TextBox 15">
            <a:extLst>
              <a:ext uri="{FF2B5EF4-FFF2-40B4-BE49-F238E27FC236}">
                <a16:creationId xmlns:a16="http://schemas.microsoft.com/office/drawing/2014/main" id="{20526BBE-67A6-4C5E-98DF-3173B7EED2AD}"/>
              </a:ext>
            </a:extLst>
          </p:cNvPr>
          <p:cNvSpPr txBox="1"/>
          <p:nvPr/>
        </p:nvSpPr>
        <p:spPr>
          <a:xfrm>
            <a:off x="191588" y="240939"/>
            <a:ext cx="5704115" cy="1477328"/>
          </a:xfrm>
          <a:prstGeom prst="rect">
            <a:avLst/>
          </a:prstGeom>
          <a:noFill/>
        </p:spPr>
        <p:txBody>
          <a:bodyPr wrap="square" rtlCol="0">
            <a:spAutoFit/>
          </a:bodyPr>
          <a:lstStyle/>
          <a:p>
            <a:r>
              <a:rPr lang="en-US" dirty="0"/>
              <a:t>S2:</a:t>
            </a:r>
          </a:p>
          <a:p>
            <a:r>
              <a:rPr lang="en-GB" dirty="0"/>
              <a:t>Add one new bar (Ln) to be joined with TWO existing bar (Le1, Le2)</a:t>
            </a:r>
          </a:p>
          <a:p>
            <a:r>
              <a:rPr lang="en-GB" dirty="0"/>
              <a:t>T2:</a:t>
            </a:r>
          </a:p>
          <a:p>
            <a:r>
              <a:rPr lang="en-GB" dirty="0"/>
              <a:t>Joint placement</a:t>
            </a:r>
          </a:p>
        </p:txBody>
      </p:sp>
      <p:sp>
        <p:nvSpPr>
          <p:cNvPr id="11" name="Freeform: Shape 10">
            <a:extLst>
              <a:ext uri="{FF2B5EF4-FFF2-40B4-BE49-F238E27FC236}">
                <a16:creationId xmlns:a16="http://schemas.microsoft.com/office/drawing/2014/main" id="{CAFA3FEB-159E-447C-979A-631E5763C7FC}"/>
              </a:ext>
            </a:extLst>
          </p:cNvPr>
          <p:cNvSpPr/>
          <p:nvPr/>
        </p:nvSpPr>
        <p:spPr>
          <a:xfrm rot="5170677">
            <a:off x="6887499" y="5236574"/>
            <a:ext cx="528426" cy="525269"/>
          </a:xfrm>
          <a:custGeom>
            <a:avLst/>
            <a:gdLst>
              <a:gd name="connsiteX0" fmla="*/ 112976 w 1027376"/>
              <a:gd name="connsiteY0" fmla="*/ 948906 h 948906"/>
              <a:gd name="connsiteX1" fmla="*/ 69844 w 1027376"/>
              <a:gd name="connsiteY1" fmla="*/ 897147 h 948906"/>
              <a:gd name="connsiteX2" fmla="*/ 9459 w 1027376"/>
              <a:gd name="connsiteY2" fmla="*/ 715993 h 948906"/>
              <a:gd name="connsiteX3" fmla="*/ 35339 w 1027376"/>
              <a:gd name="connsiteY3" fmla="*/ 396815 h 948906"/>
              <a:gd name="connsiteX4" fmla="*/ 95723 w 1027376"/>
              <a:gd name="connsiteY4" fmla="*/ 301925 h 948906"/>
              <a:gd name="connsiteX5" fmla="*/ 328637 w 1027376"/>
              <a:gd name="connsiteY5" fmla="*/ 60385 h 948906"/>
              <a:gd name="connsiteX6" fmla="*/ 630561 w 1027376"/>
              <a:gd name="connsiteY6" fmla="*/ 0 h 948906"/>
              <a:gd name="connsiteX7" fmla="*/ 794463 w 1027376"/>
              <a:gd name="connsiteY7" fmla="*/ 8626 h 948906"/>
              <a:gd name="connsiteX8" fmla="*/ 872101 w 1027376"/>
              <a:gd name="connsiteY8" fmla="*/ 17253 h 948906"/>
              <a:gd name="connsiteX9" fmla="*/ 1027376 w 1027376"/>
              <a:gd name="connsiteY9" fmla="*/ 189781 h 948906"/>
              <a:gd name="connsiteX10" fmla="*/ 1001497 w 1027376"/>
              <a:gd name="connsiteY10" fmla="*/ 560717 h 948906"/>
              <a:gd name="connsiteX11" fmla="*/ 984244 w 1027376"/>
              <a:gd name="connsiteY11" fmla="*/ 603849 h 94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7376" h="948906">
                <a:moveTo>
                  <a:pt x="112976" y="948906"/>
                </a:moveTo>
                <a:cubicBezTo>
                  <a:pt x="98599" y="931653"/>
                  <a:pt x="80751" y="916779"/>
                  <a:pt x="69844" y="897147"/>
                </a:cubicBezTo>
                <a:cubicBezTo>
                  <a:pt x="28367" y="822488"/>
                  <a:pt x="26417" y="792301"/>
                  <a:pt x="9459" y="715993"/>
                </a:cubicBezTo>
                <a:cubicBezTo>
                  <a:pt x="-1506" y="584403"/>
                  <a:pt x="-12430" y="553151"/>
                  <a:pt x="35339" y="396815"/>
                </a:cubicBezTo>
                <a:cubicBezTo>
                  <a:pt x="46295" y="360960"/>
                  <a:pt x="72864" y="331641"/>
                  <a:pt x="95723" y="301925"/>
                </a:cubicBezTo>
                <a:cubicBezTo>
                  <a:pt x="138649" y="246121"/>
                  <a:pt x="267292" y="100576"/>
                  <a:pt x="328637" y="60385"/>
                </a:cubicBezTo>
                <a:cubicBezTo>
                  <a:pt x="434394" y="-8904"/>
                  <a:pt x="507204" y="6168"/>
                  <a:pt x="630561" y="0"/>
                </a:cubicBezTo>
                <a:lnTo>
                  <a:pt x="794463" y="8626"/>
                </a:lnTo>
                <a:cubicBezTo>
                  <a:pt x="820435" y="10481"/>
                  <a:pt x="850291" y="3029"/>
                  <a:pt x="872101" y="17253"/>
                </a:cubicBezTo>
                <a:cubicBezTo>
                  <a:pt x="951972" y="69343"/>
                  <a:pt x="981527" y="121007"/>
                  <a:pt x="1027376" y="189781"/>
                </a:cubicBezTo>
                <a:cubicBezTo>
                  <a:pt x="1018750" y="313426"/>
                  <a:pt x="1014079" y="437411"/>
                  <a:pt x="1001497" y="560717"/>
                </a:cubicBezTo>
                <a:cubicBezTo>
                  <a:pt x="983335" y="738709"/>
                  <a:pt x="984244" y="611133"/>
                  <a:pt x="984244" y="603849"/>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Straight Arrow Connector 11">
            <a:extLst>
              <a:ext uri="{FF2B5EF4-FFF2-40B4-BE49-F238E27FC236}">
                <a16:creationId xmlns:a16="http://schemas.microsoft.com/office/drawing/2014/main" id="{35F9606D-E3FA-4747-9501-24FDBABE0493}"/>
              </a:ext>
            </a:extLst>
          </p:cNvPr>
          <p:cNvCxnSpPr>
            <a:cxnSpLocks/>
          </p:cNvCxnSpPr>
          <p:nvPr/>
        </p:nvCxnSpPr>
        <p:spPr>
          <a:xfrm flipV="1">
            <a:off x="6872049" y="4682702"/>
            <a:ext cx="814912" cy="419646"/>
          </a:xfrm>
          <a:prstGeom prst="straightConnector1">
            <a:avLst/>
          </a:prstGeom>
          <a:ln w="762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7CD0C57-90C3-424A-B64C-9F31AD128486}"/>
              </a:ext>
            </a:extLst>
          </p:cNvPr>
          <p:cNvSpPr/>
          <p:nvPr/>
        </p:nvSpPr>
        <p:spPr>
          <a:xfrm rot="5170677">
            <a:off x="7504146" y="5683203"/>
            <a:ext cx="528426" cy="525269"/>
          </a:xfrm>
          <a:custGeom>
            <a:avLst/>
            <a:gdLst>
              <a:gd name="connsiteX0" fmla="*/ 112976 w 1027376"/>
              <a:gd name="connsiteY0" fmla="*/ 948906 h 948906"/>
              <a:gd name="connsiteX1" fmla="*/ 69844 w 1027376"/>
              <a:gd name="connsiteY1" fmla="*/ 897147 h 948906"/>
              <a:gd name="connsiteX2" fmla="*/ 9459 w 1027376"/>
              <a:gd name="connsiteY2" fmla="*/ 715993 h 948906"/>
              <a:gd name="connsiteX3" fmla="*/ 35339 w 1027376"/>
              <a:gd name="connsiteY3" fmla="*/ 396815 h 948906"/>
              <a:gd name="connsiteX4" fmla="*/ 95723 w 1027376"/>
              <a:gd name="connsiteY4" fmla="*/ 301925 h 948906"/>
              <a:gd name="connsiteX5" fmla="*/ 328637 w 1027376"/>
              <a:gd name="connsiteY5" fmla="*/ 60385 h 948906"/>
              <a:gd name="connsiteX6" fmla="*/ 630561 w 1027376"/>
              <a:gd name="connsiteY6" fmla="*/ 0 h 948906"/>
              <a:gd name="connsiteX7" fmla="*/ 794463 w 1027376"/>
              <a:gd name="connsiteY7" fmla="*/ 8626 h 948906"/>
              <a:gd name="connsiteX8" fmla="*/ 872101 w 1027376"/>
              <a:gd name="connsiteY8" fmla="*/ 17253 h 948906"/>
              <a:gd name="connsiteX9" fmla="*/ 1027376 w 1027376"/>
              <a:gd name="connsiteY9" fmla="*/ 189781 h 948906"/>
              <a:gd name="connsiteX10" fmla="*/ 1001497 w 1027376"/>
              <a:gd name="connsiteY10" fmla="*/ 560717 h 948906"/>
              <a:gd name="connsiteX11" fmla="*/ 984244 w 1027376"/>
              <a:gd name="connsiteY11" fmla="*/ 603849 h 94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7376" h="948906">
                <a:moveTo>
                  <a:pt x="112976" y="948906"/>
                </a:moveTo>
                <a:cubicBezTo>
                  <a:pt x="98599" y="931653"/>
                  <a:pt x="80751" y="916779"/>
                  <a:pt x="69844" y="897147"/>
                </a:cubicBezTo>
                <a:cubicBezTo>
                  <a:pt x="28367" y="822488"/>
                  <a:pt x="26417" y="792301"/>
                  <a:pt x="9459" y="715993"/>
                </a:cubicBezTo>
                <a:cubicBezTo>
                  <a:pt x="-1506" y="584403"/>
                  <a:pt x="-12430" y="553151"/>
                  <a:pt x="35339" y="396815"/>
                </a:cubicBezTo>
                <a:cubicBezTo>
                  <a:pt x="46295" y="360960"/>
                  <a:pt x="72864" y="331641"/>
                  <a:pt x="95723" y="301925"/>
                </a:cubicBezTo>
                <a:cubicBezTo>
                  <a:pt x="138649" y="246121"/>
                  <a:pt x="267292" y="100576"/>
                  <a:pt x="328637" y="60385"/>
                </a:cubicBezTo>
                <a:cubicBezTo>
                  <a:pt x="434394" y="-8904"/>
                  <a:pt x="507204" y="6168"/>
                  <a:pt x="630561" y="0"/>
                </a:cubicBezTo>
                <a:lnTo>
                  <a:pt x="794463" y="8626"/>
                </a:lnTo>
                <a:cubicBezTo>
                  <a:pt x="820435" y="10481"/>
                  <a:pt x="850291" y="3029"/>
                  <a:pt x="872101" y="17253"/>
                </a:cubicBezTo>
                <a:cubicBezTo>
                  <a:pt x="951972" y="69343"/>
                  <a:pt x="981527" y="121007"/>
                  <a:pt x="1027376" y="189781"/>
                </a:cubicBezTo>
                <a:cubicBezTo>
                  <a:pt x="1018750" y="313426"/>
                  <a:pt x="1014079" y="437411"/>
                  <a:pt x="1001497" y="560717"/>
                </a:cubicBezTo>
                <a:cubicBezTo>
                  <a:pt x="983335" y="738709"/>
                  <a:pt x="984244" y="611133"/>
                  <a:pt x="984244" y="603849"/>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Arrow Connector 14">
            <a:extLst>
              <a:ext uri="{FF2B5EF4-FFF2-40B4-BE49-F238E27FC236}">
                <a16:creationId xmlns:a16="http://schemas.microsoft.com/office/drawing/2014/main" id="{301372A8-985C-42CD-9930-AB57F3D2A54D}"/>
              </a:ext>
            </a:extLst>
          </p:cNvPr>
          <p:cNvCxnSpPr>
            <a:cxnSpLocks/>
          </p:cNvCxnSpPr>
          <p:nvPr/>
        </p:nvCxnSpPr>
        <p:spPr>
          <a:xfrm flipV="1">
            <a:off x="8160145" y="3962400"/>
            <a:ext cx="273659" cy="967037"/>
          </a:xfrm>
          <a:prstGeom prst="straightConnector1">
            <a:avLst/>
          </a:prstGeom>
          <a:ln w="762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1C3EB441-61DC-4FA2-986E-AED7B3DB3901}"/>
              </a:ext>
            </a:extLst>
          </p:cNvPr>
          <p:cNvSpPr/>
          <p:nvPr/>
        </p:nvSpPr>
        <p:spPr>
          <a:xfrm rot="5170677">
            <a:off x="8508987" y="4839714"/>
            <a:ext cx="528426" cy="525269"/>
          </a:xfrm>
          <a:custGeom>
            <a:avLst/>
            <a:gdLst>
              <a:gd name="connsiteX0" fmla="*/ 112976 w 1027376"/>
              <a:gd name="connsiteY0" fmla="*/ 948906 h 948906"/>
              <a:gd name="connsiteX1" fmla="*/ 69844 w 1027376"/>
              <a:gd name="connsiteY1" fmla="*/ 897147 h 948906"/>
              <a:gd name="connsiteX2" fmla="*/ 9459 w 1027376"/>
              <a:gd name="connsiteY2" fmla="*/ 715993 h 948906"/>
              <a:gd name="connsiteX3" fmla="*/ 35339 w 1027376"/>
              <a:gd name="connsiteY3" fmla="*/ 396815 h 948906"/>
              <a:gd name="connsiteX4" fmla="*/ 95723 w 1027376"/>
              <a:gd name="connsiteY4" fmla="*/ 301925 h 948906"/>
              <a:gd name="connsiteX5" fmla="*/ 328637 w 1027376"/>
              <a:gd name="connsiteY5" fmla="*/ 60385 h 948906"/>
              <a:gd name="connsiteX6" fmla="*/ 630561 w 1027376"/>
              <a:gd name="connsiteY6" fmla="*/ 0 h 948906"/>
              <a:gd name="connsiteX7" fmla="*/ 794463 w 1027376"/>
              <a:gd name="connsiteY7" fmla="*/ 8626 h 948906"/>
              <a:gd name="connsiteX8" fmla="*/ 872101 w 1027376"/>
              <a:gd name="connsiteY8" fmla="*/ 17253 h 948906"/>
              <a:gd name="connsiteX9" fmla="*/ 1027376 w 1027376"/>
              <a:gd name="connsiteY9" fmla="*/ 189781 h 948906"/>
              <a:gd name="connsiteX10" fmla="*/ 1001497 w 1027376"/>
              <a:gd name="connsiteY10" fmla="*/ 560717 h 948906"/>
              <a:gd name="connsiteX11" fmla="*/ 984244 w 1027376"/>
              <a:gd name="connsiteY11" fmla="*/ 603849 h 94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7376" h="948906">
                <a:moveTo>
                  <a:pt x="112976" y="948906"/>
                </a:moveTo>
                <a:cubicBezTo>
                  <a:pt x="98599" y="931653"/>
                  <a:pt x="80751" y="916779"/>
                  <a:pt x="69844" y="897147"/>
                </a:cubicBezTo>
                <a:cubicBezTo>
                  <a:pt x="28367" y="822488"/>
                  <a:pt x="26417" y="792301"/>
                  <a:pt x="9459" y="715993"/>
                </a:cubicBezTo>
                <a:cubicBezTo>
                  <a:pt x="-1506" y="584403"/>
                  <a:pt x="-12430" y="553151"/>
                  <a:pt x="35339" y="396815"/>
                </a:cubicBezTo>
                <a:cubicBezTo>
                  <a:pt x="46295" y="360960"/>
                  <a:pt x="72864" y="331641"/>
                  <a:pt x="95723" y="301925"/>
                </a:cubicBezTo>
                <a:cubicBezTo>
                  <a:pt x="138649" y="246121"/>
                  <a:pt x="267292" y="100576"/>
                  <a:pt x="328637" y="60385"/>
                </a:cubicBezTo>
                <a:cubicBezTo>
                  <a:pt x="434394" y="-8904"/>
                  <a:pt x="507204" y="6168"/>
                  <a:pt x="630561" y="0"/>
                </a:cubicBezTo>
                <a:lnTo>
                  <a:pt x="794463" y="8626"/>
                </a:lnTo>
                <a:cubicBezTo>
                  <a:pt x="820435" y="10481"/>
                  <a:pt x="850291" y="3029"/>
                  <a:pt x="872101" y="17253"/>
                </a:cubicBezTo>
                <a:cubicBezTo>
                  <a:pt x="951972" y="69343"/>
                  <a:pt x="981527" y="121007"/>
                  <a:pt x="1027376" y="189781"/>
                </a:cubicBezTo>
                <a:cubicBezTo>
                  <a:pt x="1018750" y="313426"/>
                  <a:pt x="1014079" y="437411"/>
                  <a:pt x="1001497" y="560717"/>
                </a:cubicBezTo>
                <a:cubicBezTo>
                  <a:pt x="983335" y="738709"/>
                  <a:pt x="984244" y="611133"/>
                  <a:pt x="984244" y="603849"/>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8" name="Straight Arrow Connector 17">
            <a:extLst>
              <a:ext uri="{FF2B5EF4-FFF2-40B4-BE49-F238E27FC236}">
                <a16:creationId xmlns:a16="http://schemas.microsoft.com/office/drawing/2014/main" id="{C87F588C-63D3-4AB8-8CBE-A79896A05E0E}"/>
              </a:ext>
            </a:extLst>
          </p:cNvPr>
          <p:cNvCxnSpPr>
            <a:cxnSpLocks/>
          </p:cNvCxnSpPr>
          <p:nvPr/>
        </p:nvCxnSpPr>
        <p:spPr>
          <a:xfrm flipH="1">
            <a:off x="7481186" y="5065931"/>
            <a:ext cx="1342790" cy="443445"/>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B5307E3-B301-4A9E-8805-E56D03DF5723}"/>
              </a:ext>
            </a:extLst>
          </p:cNvPr>
          <p:cNvSpPr txBox="1"/>
          <p:nvPr/>
        </p:nvSpPr>
        <p:spPr>
          <a:xfrm>
            <a:off x="8079374" y="5934908"/>
            <a:ext cx="593432" cy="369332"/>
          </a:xfrm>
          <a:prstGeom prst="rect">
            <a:avLst/>
          </a:prstGeom>
          <a:noFill/>
        </p:spPr>
        <p:txBody>
          <a:bodyPr wrap="none" rtlCol="0">
            <a:spAutoFit/>
          </a:bodyPr>
          <a:lstStyle/>
          <a:p>
            <a:r>
              <a:rPr lang="en-US" b="1" dirty="0">
                <a:solidFill>
                  <a:srgbClr val="7030A0"/>
                </a:solidFill>
              </a:rPr>
              <a:t>MJR</a:t>
            </a:r>
            <a:endParaRPr lang="en-GB" b="1" dirty="0">
              <a:solidFill>
                <a:srgbClr val="7030A0"/>
              </a:solidFill>
            </a:endParaRPr>
          </a:p>
        </p:txBody>
      </p:sp>
      <p:sp>
        <p:nvSpPr>
          <p:cNvPr id="20" name="TextBox 19">
            <a:extLst>
              <a:ext uri="{FF2B5EF4-FFF2-40B4-BE49-F238E27FC236}">
                <a16:creationId xmlns:a16="http://schemas.microsoft.com/office/drawing/2014/main" id="{059526C3-565E-4C78-8AED-F4AD6BCD7DC5}"/>
              </a:ext>
            </a:extLst>
          </p:cNvPr>
          <p:cNvSpPr txBox="1"/>
          <p:nvPr/>
        </p:nvSpPr>
        <p:spPr>
          <a:xfrm>
            <a:off x="8455685" y="3895322"/>
            <a:ext cx="587020" cy="369332"/>
          </a:xfrm>
          <a:prstGeom prst="rect">
            <a:avLst/>
          </a:prstGeom>
          <a:noFill/>
        </p:spPr>
        <p:txBody>
          <a:bodyPr wrap="none" rtlCol="0">
            <a:spAutoFit/>
          </a:bodyPr>
          <a:lstStyle/>
          <a:p>
            <a:r>
              <a:rPr lang="en-US" b="1" dirty="0">
                <a:solidFill>
                  <a:srgbClr val="7030A0"/>
                </a:solidFill>
              </a:rPr>
              <a:t>MJP</a:t>
            </a:r>
            <a:endParaRPr lang="en-GB" b="1" dirty="0">
              <a:solidFill>
                <a:srgbClr val="7030A0"/>
              </a:solidFill>
            </a:endParaRPr>
          </a:p>
        </p:txBody>
      </p:sp>
      <p:sp>
        <p:nvSpPr>
          <p:cNvPr id="21" name="TextBox 20">
            <a:extLst>
              <a:ext uri="{FF2B5EF4-FFF2-40B4-BE49-F238E27FC236}">
                <a16:creationId xmlns:a16="http://schemas.microsoft.com/office/drawing/2014/main" id="{8971EA25-D7F5-4344-9B30-889F1F451B5B}"/>
              </a:ext>
            </a:extLst>
          </p:cNvPr>
          <p:cNvSpPr txBox="1"/>
          <p:nvPr/>
        </p:nvSpPr>
        <p:spPr>
          <a:xfrm>
            <a:off x="8079374" y="5934908"/>
            <a:ext cx="587020" cy="369332"/>
          </a:xfrm>
          <a:prstGeom prst="rect">
            <a:avLst/>
          </a:prstGeom>
          <a:noFill/>
        </p:spPr>
        <p:txBody>
          <a:bodyPr wrap="none" rtlCol="0">
            <a:spAutoFit/>
          </a:bodyPr>
          <a:lstStyle/>
          <a:p>
            <a:r>
              <a:rPr lang="en-US" b="1" dirty="0">
                <a:solidFill>
                  <a:srgbClr val="7030A0"/>
                </a:solidFill>
              </a:rPr>
              <a:t>MJP</a:t>
            </a:r>
            <a:endParaRPr lang="en-GB" b="1" dirty="0">
              <a:solidFill>
                <a:srgbClr val="7030A0"/>
              </a:solidFill>
            </a:endParaRPr>
          </a:p>
        </p:txBody>
      </p:sp>
      <p:sp>
        <p:nvSpPr>
          <p:cNvPr id="22" name="TextBox 21">
            <a:extLst>
              <a:ext uri="{FF2B5EF4-FFF2-40B4-BE49-F238E27FC236}">
                <a16:creationId xmlns:a16="http://schemas.microsoft.com/office/drawing/2014/main" id="{ECAC7E13-B80B-44E7-8A4A-1517F5E74E42}"/>
              </a:ext>
            </a:extLst>
          </p:cNvPr>
          <p:cNvSpPr txBox="1"/>
          <p:nvPr/>
        </p:nvSpPr>
        <p:spPr>
          <a:xfrm>
            <a:off x="9108104" y="4942114"/>
            <a:ext cx="468398" cy="369332"/>
          </a:xfrm>
          <a:prstGeom prst="rect">
            <a:avLst/>
          </a:prstGeom>
          <a:noFill/>
        </p:spPr>
        <p:txBody>
          <a:bodyPr wrap="none" rtlCol="0">
            <a:spAutoFit/>
          </a:bodyPr>
          <a:lstStyle/>
          <a:p>
            <a:r>
              <a:rPr lang="en-US" b="1" dirty="0">
                <a:solidFill>
                  <a:srgbClr val="7030A0"/>
                </a:solidFill>
              </a:rPr>
              <a:t>JJR</a:t>
            </a:r>
            <a:endParaRPr lang="en-GB" b="1" dirty="0">
              <a:solidFill>
                <a:srgbClr val="7030A0"/>
              </a:solidFill>
            </a:endParaRPr>
          </a:p>
        </p:txBody>
      </p:sp>
      <p:sp>
        <p:nvSpPr>
          <p:cNvPr id="23" name="TextBox 22">
            <a:extLst>
              <a:ext uri="{FF2B5EF4-FFF2-40B4-BE49-F238E27FC236}">
                <a16:creationId xmlns:a16="http://schemas.microsoft.com/office/drawing/2014/main" id="{99D830D5-6495-4D34-8B66-E1349C8DC9F5}"/>
              </a:ext>
            </a:extLst>
          </p:cNvPr>
          <p:cNvSpPr txBox="1"/>
          <p:nvPr/>
        </p:nvSpPr>
        <p:spPr>
          <a:xfrm>
            <a:off x="6725868" y="4469342"/>
            <a:ext cx="478657" cy="369332"/>
          </a:xfrm>
          <a:prstGeom prst="rect">
            <a:avLst/>
          </a:prstGeom>
          <a:noFill/>
        </p:spPr>
        <p:txBody>
          <a:bodyPr wrap="none" rtlCol="0">
            <a:spAutoFit/>
          </a:bodyPr>
          <a:lstStyle/>
          <a:p>
            <a:r>
              <a:rPr lang="en-US" b="1" dirty="0">
                <a:solidFill>
                  <a:srgbClr val="7030A0"/>
                </a:solidFill>
              </a:rPr>
              <a:t>FJP</a:t>
            </a:r>
            <a:endParaRPr lang="en-GB" b="1" dirty="0">
              <a:solidFill>
                <a:srgbClr val="7030A0"/>
              </a:solidFill>
            </a:endParaRPr>
          </a:p>
        </p:txBody>
      </p:sp>
      <p:sp>
        <p:nvSpPr>
          <p:cNvPr id="24" name="TextBox 23">
            <a:extLst>
              <a:ext uri="{FF2B5EF4-FFF2-40B4-BE49-F238E27FC236}">
                <a16:creationId xmlns:a16="http://schemas.microsoft.com/office/drawing/2014/main" id="{D5AFB139-5FF9-4341-ACB5-E3533709BD37}"/>
              </a:ext>
            </a:extLst>
          </p:cNvPr>
          <p:cNvSpPr txBox="1"/>
          <p:nvPr/>
        </p:nvSpPr>
        <p:spPr>
          <a:xfrm>
            <a:off x="6501715" y="5311446"/>
            <a:ext cx="485069" cy="369332"/>
          </a:xfrm>
          <a:prstGeom prst="rect">
            <a:avLst/>
          </a:prstGeom>
          <a:noFill/>
        </p:spPr>
        <p:txBody>
          <a:bodyPr wrap="none" rtlCol="0">
            <a:spAutoFit/>
          </a:bodyPr>
          <a:lstStyle/>
          <a:p>
            <a:r>
              <a:rPr lang="en-US" b="1" dirty="0">
                <a:solidFill>
                  <a:srgbClr val="7030A0"/>
                </a:solidFill>
              </a:rPr>
              <a:t>FJR</a:t>
            </a:r>
            <a:endParaRPr lang="en-GB" b="1" dirty="0">
              <a:solidFill>
                <a:srgbClr val="7030A0"/>
              </a:solidFill>
            </a:endParaRPr>
          </a:p>
        </p:txBody>
      </p:sp>
      <p:sp>
        <p:nvSpPr>
          <p:cNvPr id="25" name="Freeform: Shape 24">
            <a:extLst>
              <a:ext uri="{FF2B5EF4-FFF2-40B4-BE49-F238E27FC236}">
                <a16:creationId xmlns:a16="http://schemas.microsoft.com/office/drawing/2014/main" id="{E7D2579A-FC7C-421A-BCAE-D7A20C00FE1A}"/>
              </a:ext>
            </a:extLst>
          </p:cNvPr>
          <p:cNvSpPr/>
          <p:nvPr/>
        </p:nvSpPr>
        <p:spPr>
          <a:xfrm rot="5170677">
            <a:off x="8408594" y="265307"/>
            <a:ext cx="528426" cy="525269"/>
          </a:xfrm>
          <a:custGeom>
            <a:avLst/>
            <a:gdLst>
              <a:gd name="connsiteX0" fmla="*/ 112976 w 1027376"/>
              <a:gd name="connsiteY0" fmla="*/ 948906 h 948906"/>
              <a:gd name="connsiteX1" fmla="*/ 69844 w 1027376"/>
              <a:gd name="connsiteY1" fmla="*/ 897147 h 948906"/>
              <a:gd name="connsiteX2" fmla="*/ 9459 w 1027376"/>
              <a:gd name="connsiteY2" fmla="*/ 715993 h 948906"/>
              <a:gd name="connsiteX3" fmla="*/ 35339 w 1027376"/>
              <a:gd name="connsiteY3" fmla="*/ 396815 h 948906"/>
              <a:gd name="connsiteX4" fmla="*/ 95723 w 1027376"/>
              <a:gd name="connsiteY4" fmla="*/ 301925 h 948906"/>
              <a:gd name="connsiteX5" fmla="*/ 328637 w 1027376"/>
              <a:gd name="connsiteY5" fmla="*/ 60385 h 948906"/>
              <a:gd name="connsiteX6" fmla="*/ 630561 w 1027376"/>
              <a:gd name="connsiteY6" fmla="*/ 0 h 948906"/>
              <a:gd name="connsiteX7" fmla="*/ 794463 w 1027376"/>
              <a:gd name="connsiteY7" fmla="*/ 8626 h 948906"/>
              <a:gd name="connsiteX8" fmla="*/ 872101 w 1027376"/>
              <a:gd name="connsiteY8" fmla="*/ 17253 h 948906"/>
              <a:gd name="connsiteX9" fmla="*/ 1027376 w 1027376"/>
              <a:gd name="connsiteY9" fmla="*/ 189781 h 948906"/>
              <a:gd name="connsiteX10" fmla="*/ 1001497 w 1027376"/>
              <a:gd name="connsiteY10" fmla="*/ 560717 h 948906"/>
              <a:gd name="connsiteX11" fmla="*/ 984244 w 1027376"/>
              <a:gd name="connsiteY11" fmla="*/ 603849 h 94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7376" h="948906">
                <a:moveTo>
                  <a:pt x="112976" y="948906"/>
                </a:moveTo>
                <a:cubicBezTo>
                  <a:pt x="98599" y="931653"/>
                  <a:pt x="80751" y="916779"/>
                  <a:pt x="69844" y="897147"/>
                </a:cubicBezTo>
                <a:cubicBezTo>
                  <a:pt x="28367" y="822488"/>
                  <a:pt x="26417" y="792301"/>
                  <a:pt x="9459" y="715993"/>
                </a:cubicBezTo>
                <a:cubicBezTo>
                  <a:pt x="-1506" y="584403"/>
                  <a:pt x="-12430" y="553151"/>
                  <a:pt x="35339" y="396815"/>
                </a:cubicBezTo>
                <a:cubicBezTo>
                  <a:pt x="46295" y="360960"/>
                  <a:pt x="72864" y="331641"/>
                  <a:pt x="95723" y="301925"/>
                </a:cubicBezTo>
                <a:cubicBezTo>
                  <a:pt x="138649" y="246121"/>
                  <a:pt x="267292" y="100576"/>
                  <a:pt x="328637" y="60385"/>
                </a:cubicBezTo>
                <a:cubicBezTo>
                  <a:pt x="434394" y="-8904"/>
                  <a:pt x="507204" y="6168"/>
                  <a:pt x="630561" y="0"/>
                </a:cubicBezTo>
                <a:lnTo>
                  <a:pt x="794463" y="8626"/>
                </a:lnTo>
                <a:cubicBezTo>
                  <a:pt x="820435" y="10481"/>
                  <a:pt x="850291" y="3029"/>
                  <a:pt x="872101" y="17253"/>
                </a:cubicBezTo>
                <a:cubicBezTo>
                  <a:pt x="951972" y="69343"/>
                  <a:pt x="981527" y="121007"/>
                  <a:pt x="1027376" y="189781"/>
                </a:cubicBezTo>
                <a:cubicBezTo>
                  <a:pt x="1018750" y="313426"/>
                  <a:pt x="1014079" y="437411"/>
                  <a:pt x="1001497" y="560717"/>
                </a:cubicBezTo>
                <a:cubicBezTo>
                  <a:pt x="983335" y="738709"/>
                  <a:pt x="984244" y="611133"/>
                  <a:pt x="984244" y="603849"/>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Arrow Connector 25">
            <a:extLst>
              <a:ext uri="{FF2B5EF4-FFF2-40B4-BE49-F238E27FC236}">
                <a16:creationId xmlns:a16="http://schemas.microsoft.com/office/drawing/2014/main" id="{B27CA7E0-9D1D-4269-9D54-6BA8E746C9DC}"/>
              </a:ext>
            </a:extLst>
          </p:cNvPr>
          <p:cNvCxnSpPr>
            <a:cxnSpLocks/>
          </p:cNvCxnSpPr>
          <p:nvPr/>
        </p:nvCxnSpPr>
        <p:spPr>
          <a:xfrm flipH="1" flipV="1">
            <a:off x="8264489" y="660400"/>
            <a:ext cx="12788" cy="991640"/>
          </a:xfrm>
          <a:prstGeom prst="straightConnector1">
            <a:avLst/>
          </a:prstGeom>
          <a:ln w="762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Freeform: Shape 26">
            <a:extLst>
              <a:ext uri="{FF2B5EF4-FFF2-40B4-BE49-F238E27FC236}">
                <a16:creationId xmlns:a16="http://schemas.microsoft.com/office/drawing/2014/main" id="{DF7CE084-BFBF-4302-91BD-3AC44F437AAA}"/>
              </a:ext>
            </a:extLst>
          </p:cNvPr>
          <p:cNvSpPr/>
          <p:nvPr/>
        </p:nvSpPr>
        <p:spPr>
          <a:xfrm rot="5170677">
            <a:off x="8522480" y="2113864"/>
            <a:ext cx="528426" cy="525269"/>
          </a:xfrm>
          <a:custGeom>
            <a:avLst/>
            <a:gdLst>
              <a:gd name="connsiteX0" fmla="*/ 112976 w 1027376"/>
              <a:gd name="connsiteY0" fmla="*/ 948906 h 948906"/>
              <a:gd name="connsiteX1" fmla="*/ 69844 w 1027376"/>
              <a:gd name="connsiteY1" fmla="*/ 897147 h 948906"/>
              <a:gd name="connsiteX2" fmla="*/ 9459 w 1027376"/>
              <a:gd name="connsiteY2" fmla="*/ 715993 h 948906"/>
              <a:gd name="connsiteX3" fmla="*/ 35339 w 1027376"/>
              <a:gd name="connsiteY3" fmla="*/ 396815 h 948906"/>
              <a:gd name="connsiteX4" fmla="*/ 95723 w 1027376"/>
              <a:gd name="connsiteY4" fmla="*/ 301925 h 948906"/>
              <a:gd name="connsiteX5" fmla="*/ 328637 w 1027376"/>
              <a:gd name="connsiteY5" fmla="*/ 60385 h 948906"/>
              <a:gd name="connsiteX6" fmla="*/ 630561 w 1027376"/>
              <a:gd name="connsiteY6" fmla="*/ 0 h 948906"/>
              <a:gd name="connsiteX7" fmla="*/ 794463 w 1027376"/>
              <a:gd name="connsiteY7" fmla="*/ 8626 h 948906"/>
              <a:gd name="connsiteX8" fmla="*/ 872101 w 1027376"/>
              <a:gd name="connsiteY8" fmla="*/ 17253 h 948906"/>
              <a:gd name="connsiteX9" fmla="*/ 1027376 w 1027376"/>
              <a:gd name="connsiteY9" fmla="*/ 189781 h 948906"/>
              <a:gd name="connsiteX10" fmla="*/ 1001497 w 1027376"/>
              <a:gd name="connsiteY10" fmla="*/ 560717 h 948906"/>
              <a:gd name="connsiteX11" fmla="*/ 984244 w 1027376"/>
              <a:gd name="connsiteY11" fmla="*/ 603849 h 94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7376" h="948906">
                <a:moveTo>
                  <a:pt x="112976" y="948906"/>
                </a:moveTo>
                <a:cubicBezTo>
                  <a:pt x="98599" y="931653"/>
                  <a:pt x="80751" y="916779"/>
                  <a:pt x="69844" y="897147"/>
                </a:cubicBezTo>
                <a:cubicBezTo>
                  <a:pt x="28367" y="822488"/>
                  <a:pt x="26417" y="792301"/>
                  <a:pt x="9459" y="715993"/>
                </a:cubicBezTo>
                <a:cubicBezTo>
                  <a:pt x="-1506" y="584403"/>
                  <a:pt x="-12430" y="553151"/>
                  <a:pt x="35339" y="396815"/>
                </a:cubicBezTo>
                <a:cubicBezTo>
                  <a:pt x="46295" y="360960"/>
                  <a:pt x="72864" y="331641"/>
                  <a:pt x="95723" y="301925"/>
                </a:cubicBezTo>
                <a:cubicBezTo>
                  <a:pt x="138649" y="246121"/>
                  <a:pt x="267292" y="100576"/>
                  <a:pt x="328637" y="60385"/>
                </a:cubicBezTo>
                <a:cubicBezTo>
                  <a:pt x="434394" y="-8904"/>
                  <a:pt x="507204" y="6168"/>
                  <a:pt x="630561" y="0"/>
                </a:cubicBezTo>
                <a:lnTo>
                  <a:pt x="794463" y="8626"/>
                </a:lnTo>
                <a:cubicBezTo>
                  <a:pt x="820435" y="10481"/>
                  <a:pt x="850291" y="3029"/>
                  <a:pt x="872101" y="17253"/>
                </a:cubicBezTo>
                <a:cubicBezTo>
                  <a:pt x="951972" y="69343"/>
                  <a:pt x="981527" y="121007"/>
                  <a:pt x="1027376" y="189781"/>
                </a:cubicBezTo>
                <a:cubicBezTo>
                  <a:pt x="1018750" y="313426"/>
                  <a:pt x="1014079" y="437411"/>
                  <a:pt x="1001497" y="560717"/>
                </a:cubicBezTo>
                <a:cubicBezTo>
                  <a:pt x="983335" y="738709"/>
                  <a:pt x="984244" y="611133"/>
                  <a:pt x="984244" y="603849"/>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Arrow Connector 27">
            <a:extLst>
              <a:ext uri="{FF2B5EF4-FFF2-40B4-BE49-F238E27FC236}">
                <a16:creationId xmlns:a16="http://schemas.microsoft.com/office/drawing/2014/main" id="{0D12820A-5B73-419F-AD2D-2341DAFD914A}"/>
              </a:ext>
            </a:extLst>
          </p:cNvPr>
          <p:cNvCxnSpPr>
            <a:cxnSpLocks/>
          </p:cNvCxnSpPr>
          <p:nvPr/>
        </p:nvCxnSpPr>
        <p:spPr>
          <a:xfrm flipV="1">
            <a:off x="9206859" y="829917"/>
            <a:ext cx="235807" cy="1044417"/>
          </a:xfrm>
          <a:prstGeom prst="straightConnector1">
            <a:avLst/>
          </a:prstGeom>
          <a:ln w="762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Freeform: Shape 28">
            <a:extLst>
              <a:ext uri="{FF2B5EF4-FFF2-40B4-BE49-F238E27FC236}">
                <a16:creationId xmlns:a16="http://schemas.microsoft.com/office/drawing/2014/main" id="{9A4E9D26-72BF-4672-9E91-FCC3B887C6DD}"/>
              </a:ext>
            </a:extLst>
          </p:cNvPr>
          <p:cNvSpPr/>
          <p:nvPr/>
        </p:nvSpPr>
        <p:spPr>
          <a:xfrm rot="6176635">
            <a:off x="9495968" y="1373240"/>
            <a:ext cx="528426" cy="525269"/>
          </a:xfrm>
          <a:custGeom>
            <a:avLst/>
            <a:gdLst>
              <a:gd name="connsiteX0" fmla="*/ 112976 w 1027376"/>
              <a:gd name="connsiteY0" fmla="*/ 948906 h 948906"/>
              <a:gd name="connsiteX1" fmla="*/ 69844 w 1027376"/>
              <a:gd name="connsiteY1" fmla="*/ 897147 h 948906"/>
              <a:gd name="connsiteX2" fmla="*/ 9459 w 1027376"/>
              <a:gd name="connsiteY2" fmla="*/ 715993 h 948906"/>
              <a:gd name="connsiteX3" fmla="*/ 35339 w 1027376"/>
              <a:gd name="connsiteY3" fmla="*/ 396815 h 948906"/>
              <a:gd name="connsiteX4" fmla="*/ 95723 w 1027376"/>
              <a:gd name="connsiteY4" fmla="*/ 301925 h 948906"/>
              <a:gd name="connsiteX5" fmla="*/ 328637 w 1027376"/>
              <a:gd name="connsiteY5" fmla="*/ 60385 h 948906"/>
              <a:gd name="connsiteX6" fmla="*/ 630561 w 1027376"/>
              <a:gd name="connsiteY6" fmla="*/ 0 h 948906"/>
              <a:gd name="connsiteX7" fmla="*/ 794463 w 1027376"/>
              <a:gd name="connsiteY7" fmla="*/ 8626 h 948906"/>
              <a:gd name="connsiteX8" fmla="*/ 872101 w 1027376"/>
              <a:gd name="connsiteY8" fmla="*/ 17253 h 948906"/>
              <a:gd name="connsiteX9" fmla="*/ 1027376 w 1027376"/>
              <a:gd name="connsiteY9" fmla="*/ 189781 h 948906"/>
              <a:gd name="connsiteX10" fmla="*/ 1001497 w 1027376"/>
              <a:gd name="connsiteY10" fmla="*/ 560717 h 948906"/>
              <a:gd name="connsiteX11" fmla="*/ 984244 w 1027376"/>
              <a:gd name="connsiteY11" fmla="*/ 603849 h 94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7376" h="948906">
                <a:moveTo>
                  <a:pt x="112976" y="948906"/>
                </a:moveTo>
                <a:cubicBezTo>
                  <a:pt x="98599" y="931653"/>
                  <a:pt x="80751" y="916779"/>
                  <a:pt x="69844" y="897147"/>
                </a:cubicBezTo>
                <a:cubicBezTo>
                  <a:pt x="28367" y="822488"/>
                  <a:pt x="26417" y="792301"/>
                  <a:pt x="9459" y="715993"/>
                </a:cubicBezTo>
                <a:cubicBezTo>
                  <a:pt x="-1506" y="584403"/>
                  <a:pt x="-12430" y="553151"/>
                  <a:pt x="35339" y="396815"/>
                </a:cubicBezTo>
                <a:cubicBezTo>
                  <a:pt x="46295" y="360960"/>
                  <a:pt x="72864" y="331641"/>
                  <a:pt x="95723" y="301925"/>
                </a:cubicBezTo>
                <a:cubicBezTo>
                  <a:pt x="138649" y="246121"/>
                  <a:pt x="267292" y="100576"/>
                  <a:pt x="328637" y="60385"/>
                </a:cubicBezTo>
                <a:cubicBezTo>
                  <a:pt x="434394" y="-8904"/>
                  <a:pt x="507204" y="6168"/>
                  <a:pt x="630561" y="0"/>
                </a:cubicBezTo>
                <a:lnTo>
                  <a:pt x="794463" y="8626"/>
                </a:lnTo>
                <a:cubicBezTo>
                  <a:pt x="820435" y="10481"/>
                  <a:pt x="850291" y="3029"/>
                  <a:pt x="872101" y="17253"/>
                </a:cubicBezTo>
                <a:cubicBezTo>
                  <a:pt x="951972" y="69343"/>
                  <a:pt x="981527" y="121007"/>
                  <a:pt x="1027376" y="189781"/>
                </a:cubicBezTo>
                <a:cubicBezTo>
                  <a:pt x="1018750" y="313426"/>
                  <a:pt x="1014079" y="437411"/>
                  <a:pt x="1001497" y="560717"/>
                </a:cubicBezTo>
                <a:cubicBezTo>
                  <a:pt x="983335" y="738709"/>
                  <a:pt x="984244" y="611133"/>
                  <a:pt x="984244" y="603849"/>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Arrow Connector 29">
            <a:extLst>
              <a:ext uri="{FF2B5EF4-FFF2-40B4-BE49-F238E27FC236}">
                <a16:creationId xmlns:a16="http://schemas.microsoft.com/office/drawing/2014/main" id="{DE65D88C-54B9-4906-8C7B-0F9F3C251E89}"/>
              </a:ext>
            </a:extLst>
          </p:cNvPr>
          <p:cNvCxnSpPr>
            <a:cxnSpLocks/>
          </p:cNvCxnSpPr>
          <p:nvPr/>
        </p:nvCxnSpPr>
        <p:spPr>
          <a:xfrm flipH="1" flipV="1">
            <a:off x="7684146" y="1449334"/>
            <a:ext cx="2126811" cy="150123"/>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934E0DF-AF14-475B-905C-80F105802697}"/>
              </a:ext>
            </a:extLst>
          </p:cNvPr>
          <p:cNvSpPr txBox="1"/>
          <p:nvPr/>
        </p:nvSpPr>
        <p:spPr>
          <a:xfrm>
            <a:off x="9066355" y="2468434"/>
            <a:ext cx="593432" cy="369332"/>
          </a:xfrm>
          <a:prstGeom prst="rect">
            <a:avLst/>
          </a:prstGeom>
          <a:noFill/>
        </p:spPr>
        <p:txBody>
          <a:bodyPr wrap="none" rtlCol="0">
            <a:spAutoFit/>
          </a:bodyPr>
          <a:lstStyle/>
          <a:p>
            <a:r>
              <a:rPr lang="en-US" b="1" dirty="0">
                <a:solidFill>
                  <a:srgbClr val="7030A0"/>
                </a:solidFill>
              </a:rPr>
              <a:t>MJR</a:t>
            </a:r>
            <a:endParaRPr lang="en-GB" b="1" dirty="0">
              <a:solidFill>
                <a:srgbClr val="7030A0"/>
              </a:solidFill>
            </a:endParaRPr>
          </a:p>
        </p:txBody>
      </p:sp>
      <p:sp>
        <p:nvSpPr>
          <p:cNvPr id="32" name="TextBox 31">
            <a:extLst>
              <a:ext uri="{FF2B5EF4-FFF2-40B4-BE49-F238E27FC236}">
                <a16:creationId xmlns:a16="http://schemas.microsoft.com/office/drawing/2014/main" id="{7D4C0D04-12F4-4520-8EBA-4AFA7276EA5D}"/>
              </a:ext>
            </a:extLst>
          </p:cNvPr>
          <p:cNvSpPr txBox="1"/>
          <p:nvPr/>
        </p:nvSpPr>
        <p:spPr>
          <a:xfrm>
            <a:off x="9411462" y="633536"/>
            <a:ext cx="587020" cy="369332"/>
          </a:xfrm>
          <a:prstGeom prst="rect">
            <a:avLst/>
          </a:prstGeom>
          <a:noFill/>
        </p:spPr>
        <p:txBody>
          <a:bodyPr wrap="none" rtlCol="0">
            <a:spAutoFit/>
          </a:bodyPr>
          <a:lstStyle/>
          <a:p>
            <a:r>
              <a:rPr lang="en-US" b="1" dirty="0">
                <a:solidFill>
                  <a:srgbClr val="7030A0"/>
                </a:solidFill>
              </a:rPr>
              <a:t>MJP</a:t>
            </a:r>
            <a:endParaRPr lang="en-GB" b="1" dirty="0">
              <a:solidFill>
                <a:srgbClr val="7030A0"/>
              </a:solidFill>
            </a:endParaRPr>
          </a:p>
        </p:txBody>
      </p:sp>
      <p:sp>
        <p:nvSpPr>
          <p:cNvPr id="33" name="TextBox 32">
            <a:extLst>
              <a:ext uri="{FF2B5EF4-FFF2-40B4-BE49-F238E27FC236}">
                <a16:creationId xmlns:a16="http://schemas.microsoft.com/office/drawing/2014/main" id="{7F1A3134-0179-46B2-8B46-E64F4BDF8181}"/>
              </a:ext>
            </a:extLst>
          </p:cNvPr>
          <p:cNvSpPr txBox="1"/>
          <p:nvPr/>
        </p:nvSpPr>
        <p:spPr>
          <a:xfrm>
            <a:off x="9066355" y="2468434"/>
            <a:ext cx="587020" cy="369332"/>
          </a:xfrm>
          <a:prstGeom prst="rect">
            <a:avLst/>
          </a:prstGeom>
          <a:noFill/>
        </p:spPr>
        <p:txBody>
          <a:bodyPr wrap="none" rtlCol="0">
            <a:spAutoFit/>
          </a:bodyPr>
          <a:lstStyle/>
          <a:p>
            <a:r>
              <a:rPr lang="en-US" b="1" dirty="0">
                <a:solidFill>
                  <a:srgbClr val="7030A0"/>
                </a:solidFill>
              </a:rPr>
              <a:t>MJP</a:t>
            </a:r>
            <a:endParaRPr lang="en-GB" b="1" dirty="0">
              <a:solidFill>
                <a:srgbClr val="7030A0"/>
              </a:solidFill>
            </a:endParaRPr>
          </a:p>
        </p:txBody>
      </p:sp>
      <p:sp>
        <p:nvSpPr>
          <p:cNvPr id="34" name="TextBox 33">
            <a:extLst>
              <a:ext uri="{FF2B5EF4-FFF2-40B4-BE49-F238E27FC236}">
                <a16:creationId xmlns:a16="http://schemas.microsoft.com/office/drawing/2014/main" id="{BF207A95-EE7F-45C2-A1B7-3736594620A4}"/>
              </a:ext>
            </a:extLst>
          </p:cNvPr>
          <p:cNvSpPr txBox="1"/>
          <p:nvPr/>
        </p:nvSpPr>
        <p:spPr>
          <a:xfrm>
            <a:off x="10095085" y="1475640"/>
            <a:ext cx="468398" cy="369332"/>
          </a:xfrm>
          <a:prstGeom prst="rect">
            <a:avLst/>
          </a:prstGeom>
          <a:noFill/>
        </p:spPr>
        <p:txBody>
          <a:bodyPr wrap="none" rtlCol="0">
            <a:spAutoFit/>
          </a:bodyPr>
          <a:lstStyle/>
          <a:p>
            <a:r>
              <a:rPr lang="en-US" b="1" dirty="0">
                <a:solidFill>
                  <a:srgbClr val="7030A0"/>
                </a:solidFill>
              </a:rPr>
              <a:t>JJR</a:t>
            </a:r>
            <a:endParaRPr lang="en-GB" b="1" dirty="0">
              <a:solidFill>
                <a:srgbClr val="7030A0"/>
              </a:solidFill>
            </a:endParaRPr>
          </a:p>
        </p:txBody>
      </p:sp>
      <p:sp>
        <p:nvSpPr>
          <p:cNvPr id="35" name="TextBox 34">
            <a:extLst>
              <a:ext uri="{FF2B5EF4-FFF2-40B4-BE49-F238E27FC236}">
                <a16:creationId xmlns:a16="http://schemas.microsoft.com/office/drawing/2014/main" id="{AE6826E8-0663-4227-BCC1-DA288D5AF659}"/>
              </a:ext>
            </a:extLst>
          </p:cNvPr>
          <p:cNvSpPr txBox="1"/>
          <p:nvPr/>
        </p:nvSpPr>
        <p:spPr>
          <a:xfrm>
            <a:off x="7712849" y="1002868"/>
            <a:ext cx="478657" cy="369332"/>
          </a:xfrm>
          <a:prstGeom prst="rect">
            <a:avLst/>
          </a:prstGeom>
          <a:noFill/>
        </p:spPr>
        <p:txBody>
          <a:bodyPr wrap="none" rtlCol="0">
            <a:spAutoFit/>
          </a:bodyPr>
          <a:lstStyle/>
          <a:p>
            <a:r>
              <a:rPr lang="en-US" b="1" dirty="0">
                <a:solidFill>
                  <a:srgbClr val="7030A0"/>
                </a:solidFill>
              </a:rPr>
              <a:t>FJP</a:t>
            </a:r>
            <a:endParaRPr lang="en-GB" b="1" dirty="0">
              <a:solidFill>
                <a:srgbClr val="7030A0"/>
              </a:solidFill>
            </a:endParaRPr>
          </a:p>
        </p:txBody>
      </p:sp>
      <p:sp>
        <p:nvSpPr>
          <p:cNvPr id="36" name="TextBox 35">
            <a:extLst>
              <a:ext uri="{FF2B5EF4-FFF2-40B4-BE49-F238E27FC236}">
                <a16:creationId xmlns:a16="http://schemas.microsoft.com/office/drawing/2014/main" id="{D9E8AE8D-BF7D-4B9E-87F9-C400FEC8AC77}"/>
              </a:ext>
            </a:extLst>
          </p:cNvPr>
          <p:cNvSpPr txBox="1"/>
          <p:nvPr/>
        </p:nvSpPr>
        <p:spPr>
          <a:xfrm>
            <a:off x="8874796" y="68858"/>
            <a:ext cx="485069" cy="369332"/>
          </a:xfrm>
          <a:prstGeom prst="rect">
            <a:avLst/>
          </a:prstGeom>
          <a:noFill/>
        </p:spPr>
        <p:txBody>
          <a:bodyPr wrap="none" rtlCol="0">
            <a:spAutoFit/>
          </a:bodyPr>
          <a:lstStyle/>
          <a:p>
            <a:r>
              <a:rPr lang="en-US" b="1" dirty="0">
                <a:solidFill>
                  <a:srgbClr val="7030A0"/>
                </a:solidFill>
              </a:rPr>
              <a:t>FJR</a:t>
            </a:r>
            <a:endParaRPr lang="en-GB" b="1" dirty="0">
              <a:solidFill>
                <a:srgbClr val="7030A0"/>
              </a:solidFill>
            </a:endParaRPr>
          </a:p>
        </p:txBody>
      </p:sp>
      <p:sp>
        <p:nvSpPr>
          <p:cNvPr id="38" name="TextBox 37">
            <a:extLst>
              <a:ext uri="{FF2B5EF4-FFF2-40B4-BE49-F238E27FC236}">
                <a16:creationId xmlns:a16="http://schemas.microsoft.com/office/drawing/2014/main" id="{3B4A031E-256B-4BFA-9356-E2DCE78CD4DF}"/>
              </a:ext>
            </a:extLst>
          </p:cNvPr>
          <p:cNvSpPr txBox="1"/>
          <p:nvPr/>
        </p:nvSpPr>
        <p:spPr>
          <a:xfrm>
            <a:off x="191588" y="2095366"/>
            <a:ext cx="5559732" cy="1200329"/>
          </a:xfrm>
          <a:prstGeom prst="rect">
            <a:avLst/>
          </a:prstGeom>
          <a:noFill/>
        </p:spPr>
        <p:txBody>
          <a:bodyPr wrap="square" rtlCol="0">
            <a:spAutoFit/>
          </a:bodyPr>
          <a:lstStyle/>
          <a:p>
            <a:r>
              <a:rPr lang="en-US" dirty="0"/>
              <a:t>Here we also lock the line Ln generated from S2-T2. Then the joint placement is simply run the FK-based joint optimization from S1-T2 twice for each end. Reuse that as much as possible.</a:t>
            </a:r>
            <a:endParaRPr lang="en-GB" dirty="0"/>
          </a:p>
        </p:txBody>
      </p:sp>
      <p:cxnSp>
        <p:nvCxnSpPr>
          <p:cNvPr id="40" name="Straight Connector 39">
            <a:extLst>
              <a:ext uri="{FF2B5EF4-FFF2-40B4-BE49-F238E27FC236}">
                <a16:creationId xmlns:a16="http://schemas.microsoft.com/office/drawing/2014/main" id="{C70B3E64-3038-4694-9E40-F613D09D0C6F}"/>
              </a:ext>
            </a:extLst>
          </p:cNvPr>
          <p:cNvCxnSpPr>
            <a:cxnSpLocks/>
          </p:cNvCxnSpPr>
          <p:nvPr/>
        </p:nvCxnSpPr>
        <p:spPr>
          <a:xfrm flipH="1">
            <a:off x="8596951" y="68858"/>
            <a:ext cx="69667" cy="42621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C178A4-002F-4CD4-93D5-037C7428B1B3}"/>
              </a:ext>
            </a:extLst>
          </p:cNvPr>
          <p:cNvCxnSpPr>
            <a:cxnSpLocks/>
          </p:cNvCxnSpPr>
          <p:nvPr/>
        </p:nvCxnSpPr>
        <p:spPr>
          <a:xfrm flipH="1">
            <a:off x="6296299" y="3859994"/>
            <a:ext cx="4635806" cy="22851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CB3C8E1-F594-4E22-8144-BBA0281853F1}"/>
              </a:ext>
            </a:extLst>
          </p:cNvPr>
          <p:cNvCxnSpPr>
            <a:cxnSpLocks/>
          </p:cNvCxnSpPr>
          <p:nvPr/>
        </p:nvCxnSpPr>
        <p:spPr>
          <a:xfrm flipH="1">
            <a:off x="7968930" y="721140"/>
            <a:ext cx="1169545" cy="54239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02021B5-2FCD-4A6B-BFF0-2F2B541B255C}"/>
              </a:ext>
            </a:extLst>
          </p:cNvPr>
          <p:cNvSpPr txBox="1"/>
          <p:nvPr/>
        </p:nvSpPr>
        <p:spPr>
          <a:xfrm>
            <a:off x="9149782" y="581662"/>
            <a:ext cx="404278" cy="369332"/>
          </a:xfrm>
          <a:prstGeom prst="rect">
            <a:avLst/>
          </a:prstGeom>
          <a:noFill/>
        </p:spPr>
        <p:txBody>
          <a:bodyPr wrap="none" rtlCol="0">
            <a:spAutoFit/>
          </a:bodyPr>
          <a:lstStyle/>
          <a:p>
            <a:r>
              <a:rPr lang="en-US" dirty="0"/>
              <a:t>Ln</a:t>
            </a:r>
            <a:endParaRPr lang="en-GB" dirty="0"/>
          </a:p>
        </p:txBody>
      </p:sp>
      <p:sp>
        <p:nvSpPr>
          <p:cNvPr id="44" name="TextBox 43">
            <a:extLst>
              <a:ext uri="{FF2B5EF4-FFF2-40B4-BE49-F238E27FC236}">
                <a16:creationId xmlns:a16="http://schemas.microsoft.com/office/drawing/2014/main" id="{83DE48D0-95F7-4B05-AC0E-CCB1CDF11581}"/>
              </a:ext>
            </a:extLst>
          </p:cNvPr>
          <p:cNvSpPr txBox="1"/>
          <p:nvPr/>
        </p:nvSpPr>
        <p:spPr>
          <a:xfrm>
            <a:off x="8732337" y="3569181"/>
            <a:ext cx="514885" cy="369332"/>
          </a:xfrm>
          <a:prstGeom prst="rect">
            <a:avLst/>
          </a:prstGeom>
          <a:noFill/>
        </p:spPr>
        <p:txBody>
          <a:bodyPr wrap="none" rtlCol="0">
            <a:spAutoFit/>
          </a:bodyPr>
          <a:lstStyle/>
          <a:p>
            <a:r>
              <a:rPr lang="en-US" dirty="0"/>
              <a:t>Le1</a:t>
            </a:r>
            <a:endParaRPr lang="en-GB" dirty="0"/>
          </a:p>
        </p:txBody>
      </p:sp>
      <p:sp>
        <p:nvSpPr>
          <p:cNvPr id="45" name="TextBox 44">
            <a:extLst>
              <a:ext uri="{FF2B5EF4-FFF2-40B4-BE49-F238E27FC236}">
                <a16:creationId xmlns:a16="http://schemas.microsoft.com/office/drawing/2014/main" id="{183E0E3C-CDF9-4802-8FB9-4A938E98743C}"/>
              </a:ext>
            </a:extLst>
          </p:cNvPr>
          <p:cNvSpPr txBox="1"/>
          <p:nvPr/>
        </p:nvSpPr>
        <p:spPr>
          <a:xfrm>
            <a:off x="10417220" y="3591072"/>
            <a:ext cx="514885" cy="369332"/>
          </a:xfrm>
          <a:prstGeom prst="rect">
            <a:avLst/>
          </a:prstGeom>
          <a:noFill/>
        </p:spPr>
        <p:txBody>
          <a:bodyPr wrap="none" rtlCol="0">
            <a:spAutoFit/>
          </a:bodyPr>
          <a:lstStyle/>
          <a:p>
            <a:r>
              <a:rPr lang="en-US" dirty="0"/>
              <a:t>Le2</a:t>
            </a:r>
            <a:endParaRPr lang="en-GB" dirty="0"/>
          </a:p>
        </p:txBody>
      </p:sp>
    </p:spTree>
    <p:extLst>
      <p:ext uri="{BB962C8B-B14F-4D97-AF65-F5344CB8AC3E}">
        <p14:creationId xmlns:p14="http://schemas.microsoft.com/office/powerpoint/2010/main" val="1024896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2FD33-3498-4EAF-8017-10DB4E1D2608}"/>
              </a:ext>
            </a:extLst>
          </p:cNvPr>
          <p:cNvSpPr>
            <a:spLocks noGrp="1"/>
          </p:cNvSpPr>
          <p:nvPr>
            <p:ph type="title"/>
          </p:nvPr>
        </p:nvSpPr>
        <p:spPr/>
        <p:txBody>
          <a:bodyPr/>
          <a:lstStyle/>
          <a:p>
            <a:r>
              <a:rPr lang="en-US" dirty="0"/>
              <a:t>Implementation details</a:t>
            </a:r>
            <a:endParaRPr lang="en-GB" dirty="0"/>
          </a:p>
        </p:txBody>
      </p:sp>
      <p:sp>
        <p:nvSpPr>
          <p:cNvPr id="3" name="Content Placeholder 2">
            <a:extLst>
              <a:ext uri="{FF2B5EF4-FFF2-40B4-BE49-F238E27FC236}">
                <a16:creationId xmlns:a16="http://schemas.microsoft.com/office/drawing/2014/main" id="{26BF9E32-91D1-4F1F-A818-C3A6192B7E3B}"/>
              </a:ext>
            </a:extLst>
          </p:cNvPr>
          <p:cNvSpPr>
            <a:spLocks noGrp="1"/>
          </p:cNvSpPr>
          <p:nvPr>
            <p:ph idx="1"/>
          </p:nvPr>
        </p:nvSpPr>
        <p:spPr/>
        <p:txBody>
          <a:bodyPr>
            <a:normAutofit fontScale="77500" lnSpcReduction="20000"/>
          </a:bodyPr>
          <a:lstStyle/>
          <a:p>
            <a:pPr marL="0" indent="0">
              <a:buNone/>
            </a:pPr>
            <a:r>
              <a:rPr lang="en-US" b="1" dirty="0"/>
              <a:t>UI</a:t>
            </a:r>
          </a:p>
          <a:p>
            <a:r>
              <a:rPr lang="en-US" dirty="0"/>
              <a:t>We want two scripts for T1 and T2. In the end, the user will call this scripts thru buttons on the </a:t>
            </a:r>
            <a:r>
              <a:rPr lang="en-US" dirty="0" err="1"/>
              <a:t>Rhion</a:t>
            </a:r>
            <a:r>
              <a:rPr lang="en-US" dirty="0"/>
              <a:t> UI bar (via Run </a:t>
            </a:r>
            <a:r>
              <a:rPr lang="en-US" dirty="0" err="1"/>
              <a:t>ScriptEditor</a:t>
            </a:r>
            <a:r>
              <a:rPr lang="en-US" dirty="0"/>
              <a:t> &lt;point to python script path&gt;). Not so sure if we need four buttons for all four scenarios, but let’s minimize number of buttons.</a:t>
            </a:r>
          </a:p>
          <a:p>
            <a:r>
              <a:rPr lang="en-GB" dirty="0"/>
              <a:t>In Rhino, left click the button will prompt the user to click lines or points as inputs. Right click will run the script again with the inputs from the last call.</a:t>
            </a:r>
          </a:p>
          <a:p>
            <a:pPr marL="0" indent="0">
              <a:buNone/>
            </a:pPr>
            <a:r>
              <a:rPr lang="en-GB" b="1" dirty="0"/>
              <a:t>Output</a:t>
            </a:r>
          </a:p>
          <a:p>
            <a:r>
              <a:rPr lang="en-GB" dirty="0"/>
              <a:t>For T1, the script simply generate a line and back it back into Rhino, you can make a default length there that is long enough but not crazy, and user will resize according to their need.</a:t>
            </a:r>
          </a:p>
          <a:p>
            <a:r>
              <a:rPr lang="en-GB" dirty="0"/>
              <a:t>For T2, we will have some Block definitions with the name “</a:t>
            </a:r>
            <a:r>
              <a:rPr lang="en-GB" dirty="0" err="1"/>
              <a:t>FemaleJoint</a:t>
            </a:r>
            <a:r>
              <a:rPr lang="en-GB" dirty="0"/>
              <a:t>” and “</a:t>
            </a:r>
            <a:r>
              <a:rPr lang="en-GB" dirty="0" err="1"/>
              <a:t>MaleJoint</a:t>
            </a:r>
            <a:r>
              <a:rPr lang="en-GB" dirty="0"/>
              <a:t>” placed at the world origin according to the OCF convention. The T2 script should directly generate a Block instance, with additional JSON format type of info saved in the “Attribute User text”, which I could parse easily in Python for robot planning etc.</a:t>
            </a:r>
          </a:p>
        </p:txBody>
      </p:sp>
    </p:spTree>
    <p:extLst>
      <p:ext uri="{BB962C8B-B14F-4D97-AF65-F5344CB8AC3E}">
        <p14:creationId xmlns:p14="http://schemas.microsoft.com/office/powerpoint/2010/main" val="448086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1124</Words>
  <Application>Microsoft Office PowerPoint</Application>
  <PresentationFormat>Widescreen</PresentationFormat>
  <Paragraphs>121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 details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Huang  Yijiang</dc:creator>
  <cp:lastModifiedBy>Huang  Yijiang</cp:lastModifiedBy>
  <cp:revision>31</cp:revision>
  <dcterms:created xsi:type="dcterms:W3CDTF">2026-04-09T14:20:10Z</dcterms:created>
  <dcterms:modified xsi:type="dcterms:W3CDTF">2026-04-09T15:38:16Z</dcterms:modified>
</cp:coreProperties>
</file>